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74d16a963708c2e07e988ad0a34c11d57d17b0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110615"/>
            <a:ext cx="3550920" cy="426720"/>
          </a:xfrm>
          <a:custGeom>
            <a:avLst/>
            <a:gdLst/>
            <a:ahLst/>
            <a:cxnLst/>
            <a:rect l="l" t="t" r="r" b="b"/>
            <a:pathLst>
              <a:path w="3550920" h="426720">
                <a:moveTo>
                  <a:pt x="76199" y="0"/>
                </a:moveTo>
                <a:lnTo>
                  <a:pt x="3474721" y="0"/>
                </a:lnTo>
                <a:cubicBezTo>
                  <a:pt x="3516804" y="0"/>
                  <a:pt x="3550920" y="34116"/>
                  <a:pt x="3550920" y="76199"/>
                </a:cubicBezTo>
                <a:lnTo>
                  <a:pt x="3550920" y="350521"/>
                </a:lnTo>
                <a:cubicBezTo>
                  <a:pt x="3550920" y="392604"/>
                  <a:pt x="3516804" y="426720"/>
                  <a:pt x="347472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198245"/>
            <a:ext cx="332327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SERVER ADMINISTRATION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9834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4144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Configure DHCP Reservation on Windows Server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Technical Guide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939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6256" y="542734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31304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503545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Server 2019/2022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68598" y="52939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190042" y="54273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Text 11"/>
          <p:cNvSpPr/>
          <p:nvPr/>
        </p:nvSpPr>
        <p:spPr>
          <a:xfrm>
            <a:off x="3640098" y="531304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40098" y="550354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Configuration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5619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638300"/>
            <a:ext cx="293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DHCP Reservation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9431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 and fundamentals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3650" y="14478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43650" y="14478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5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62800" y="16383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&amp; Use Cases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9431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and when to use reservations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5527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552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2743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561975" y="2743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274320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Reservation vs Static 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04800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3650" y="25527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43650" y="25527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2743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505575" y="2743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2800" y="2743200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04800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need before starting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6576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3657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384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561975" y="3848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" y="384810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Steps (GUI)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1529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DHCP Manager console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3650" y="3657600"/>
            <a:ext cx="5467350" cy="914400"/>
          </a:xfrm>
          <a:custGeom>
            <a:avLst/>
            <a:gdLst/>
            <a:ahLst/>
            <a:cxnLst/>
            <a:rect l="l" t="t" r="r" b="b"/>
            <a:pathLst>
              <a:path w="5467350" h="914400">
                <a:moveTo>
                  <a:pt x="38100" y="0"/>
                </a:moveTo>
                <a:lnTo>
                  <a:pt x="5353050" y="0"/>
                </a:lnTo>
                <a:cubicBezTo>
                  <a:pt x="5416134" y="0"/>
                  <a:pt x="5467350" y="51216"/>
                  <a:pt x="5467350" y="114300"/>
                </a:cubicBezTo>
                <a:lnTo>
                  <a:pt x="5467350" y="800100"/>
                </a:lnTo>
                <a:cubicBezTo>
                  <a:pt x="5467350" y="863184"/>
                  <a:pt x="5416134" y="914400"/>
                  <a:pt x="53530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343650" y="3657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3200" y="3848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7" name="Text 35"/>
          <p:cNvSpPr/>
          <p:nvPr/>
        </p:nvSpPr>
        <p:spPr>
          <a:xfrm>
            <a:off x="6505575" y="3848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62800" y="38481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PowerShell Configuration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62800" y="41529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Command-line automation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762500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800100"/>
                </a:lnTo>
                <a:cubicBezTo>
                  <a:pt x="11410950" y="863184"/>
                  <a:pt x="11359734" y="914400"/>
                  <a:pt x="11296650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47625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" y="495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561975" y="4953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9200" y="4953000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257800"/>
            <a:ext cx="3705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recommendations for production environments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4079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spc="57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51205"/>
            <a:ext cx="1168550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DHCP Reservation?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69" y="1302409"/>
            <a:ext cx="6774338" cy="1709412"/>
          </a:xfrm>
          <a:custGeom>
            <a:avLst/>
            <a:gdLst/>
            <a:ahLst/>
            <a:cxnLst/>
            <a:rect l="l" t="t" r="r" b="b"/>
            <a:pathLst>
              <a:path w="6774338" h="1709412">
                <a:moveTo>
                  <a:pt x="36178" y="0"/>
                </a:moveTo>
                <a:lnTo>
                  <a:pt x="6665808" y="0"/>
                </a:lnTo>
                <a:cubicBezTo>
                  <a:pt x="6725747" y="0"/>
                  <a:pt x="6774338" y="48591"/>
                  <a:pt x="6774338" y="108531"/>
                </a:cubicBezTo>
                <a:lnTo>
                  <a:pt x="6774338" y="1600882"/>
                </a:lnTo>
                <a:cubicBezTo>
                  <a:pt x="6774338" y="1660822"/>
                  <a:pt x="6725747" y="1709412"/>
                  <a:pt x="6665808" y="1709412"/>
                </a:cubicBezTo>
                <a:lnTo>
                  <a:pt x="36178" y="1709412"/>
                </a:lnTo>
                <a:cubicBezTo>
                  <a:pt x="16197" y="1709412"/>
                  <a:pt x="0" y="1693215"/>
                  <a:pt x="0" y="167323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9869" y="1302409"/>
            <a:ext cx="36178" cy="1709412"/>
          </a:xfrm>
          <a:custGeom>
            <a:avLst/>
            <a:gdLst/>
            <a:ahLst/>
            <a:cxnLst/>
            <a:rect l="l" t="t" r="r" b="b"/>
            <a:pathLst>
              <a:path w="36178" h="1709412">
                <a:moveTo>
                  <a:pt x="36178" y="0"/>
                </a:moveTo>
                <a:lnTo>
                  <a:pt x="36178" y="0"/>
                </a:lnTo>
                <a:lnTo>
                  <a:pt x="36178" y="1709412"/>
                </a:lnTo>
                <a:lnTo>
                  <a:pt x="36178" y="1709412"/>
                </a:lnTo>
                <a:cubicBezTo>
                  <a:pt x="16197" y="1709412"/>
                  <a:pt x="0" y="1693215"/>
                  <a:pt x="0" y="167323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4"/>
          <p:cNvSpPr/>
          <p:nvPr/>
        </p:nvSpPr>
        <p:spPr>
          <a:xfrm>
            <a:off x="578849" y="1483300"/>
            <a:ext cx="6475869" cy="53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</a:t>
            </a:r>
            <a:pPr>
              <a:lnSpc>
                <a:spcPct val="140000"/>
              </a:lnSpc>
            </a:pPr>
            <a:r>
              <a:rPr lang="en-US" sz="1282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permanent IP address assignment within a DHCP scope that maps a specific MAC address to a fixed IP address.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8849" y="2120938"/>
            <a:ext cx="6466825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 device with a reserved MAC address requests an IP, the DHCP server always assigns the same reserved address—providing 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pseudo-static addressing 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maintaining centralized management.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398" y="3191808"/>
            <a:ext cx="3317526" cy="1363912"/>
          </a:xfrm>
          <a:custGeom>
            <a:avLst/>
            <a:gdLst/>
            <a:ahLst/>
            <a:cxnLst/>
            <a:rect l="l" t="t" r="r" b="b"/>
            <a:pathLst>
              <a:path w="3317526" h="1363912">
                <a:moveTo>
                  <a:pt x="108540" y="0"/>
                </a:moveTo>
                <a:lnTo>
                  <a:pt x="3208986" y="0"/>
                </a:lnTo>
                <a:cubicBezTo>
                  <a:pt x="3268931" y="0"/>
                  <a:pt x="3317526" y="48595"/>
                  <a:pt x="3317526" y="108540"/>
                </a:cubicBezTo>
                <a:lnTo>
                  <a:pt x="3317526" y="1255372"/>
                </a:lnTo>
                <a:cubicBezTo>
                  <a:pt x="3317526" y="1315317"/>
                  <a:pt x="3268931" y="1363912"/>
                  <a:pt x="3208986" y="1363912"/>
                </a:cubicBezTo>
                <a:lnTo>
                  <a:pt x="108540" y="1363912"/>
                </a:lnTo>
                <a:cubicBezTo>
                  <a:pt x="48595" y="1363912"/>
                  <a:pt x="0" y="1315317"/>
                  <a:pt x="0" y="1255372"/>
                </a:cubicBezTo>
                <a:lnTo>
                  <a:pt x="0" y="108540"/>
                </a:lnTo>
                <a:cubicBezTo>
                  <a:pt x="0" y="48635"/>
                  <a:pt x="48635" y="0"/>
                  <a:pt x="10854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295" y="3358227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77852" y="40700"/>
                </a:moveTo>
                <a:cubicBezTo>
                  <a:pt x="170814" y="40700"/>
                  <a:pt x="163988" y="42608"/>
                  <a:pt x="158010" y="46085"/>
                </a:cubicBezTo>
                <a:cubicBezTo>
                  <a:pt x="151312" y="39301"/>
                  <a:pt x="143511" y="33620"/>
                  <a:pt x="134905" y="29338"/>
                </a:cubicBezTo>
                <a:cubicBezTo>
                  <a:pt x="146860" y="19163"/>
                  <a:pt x="162080" y="13567"/>
                  <a:pt x="177852" y="13567"/>
                </a:cubicBezTo>
                <a:cubicBezTo>
                  <a:pt x="214482" y="13567"/>
                  <a:pt x="244202" y="43244"/>
                  <a:pt x="244202" y="79917"/>
                </a:cubicBezTo>
                <a:cubicBezTo>
                  <a:pt x="244202" y="97511"/>
                  <a:pt x="237206" y="114385"/>
                  <a:pt x="224784" y="126807"/>
                </a:cubicBezTo>
                <a:lnTo>
                  <a:pt x="194641" y="156951"/>
                </a:lnTo>
                <a:cubicBezTo>
                  <a:pt x="182219" y="169373"/>
                  <a:pt x="165345" y="176368"/>
                  <a:pt x="147751" y="176368"/>
                </a:cubicBezTo>
                <a:cubicBezTo>
                  <a:pt x="111120" y="176368"/>
                  <a:pt x="81401" y="146691"/>
                  <a:pt x="81401" y="110018"/>
                </a:cubicBezTo>
                <a:cubicBezTo>
                  <a:pt x="81401" y="109382"/>
                  <a:pt x="81401" y="108746"/>
                  <a:pt x="81443" y="108110"/>
                </a:cubicBezTo>
                <a:cubicBezTo>
                  <a:pt x="81655" y="100606"/>
                  <a:pt x="87887" y="94713"/>
                  <a:pt x="95391" y="94925"/>
                </a:cubicBezTo>
                <a:cubicBezTo>
                  <a:pt x="102895" y="95137"/>
                  <a:pt x="108789" y="101369"/>
                  <a:pt x="108577" y="108873"/>
                </a:cubicBezTo>
                <a:cubicBezTo>
                  <a:pt x="108577" y="109255"/>
                  <a:pt x="108577" y="109636"/>
                  <a:pt x="108577" y="109976"/>
                </a:cubicBezTo>
                <a:cubicBezTo>
                  <a:pt x="108577" y="131640"/>
                  <a:pt x="126129" y="149192"/>
                  <a:pt x="147793" y="149192"/>
                </a:cubicBezTo>
                <a:cubicBezTo>
                  <a:pt x="158180" y="149192"/>
                  <a:pt x="168143" y="145080"/>
                  <a:pt x="175520" y="137703"/>
                </a:cubicBezTo>
                <a:lnTo>
                  <a:pt x="205664" y="107559"/>
                </a:lnTo>
                <a:cubicBezTo>
                  <a:pt x="212998" y="100224"/>
                  <a:pt x="217153" y="90219"/>
                  <a:pt x="217153" y="79832"/>
                </a:cubicBezTo>
                <a:cubicBezTo>
                  <a:pt x="217153" y="58168"/>
                  <a:pt x="199601" y="40616"/>
                  <a:pt x="177937" y="40616"/>
                </a:cubicBezTo>
                <a:close/>
                <a:moveTo>
                  <a:pt x="116674" y="73473"/>
                </a:moveTo>
                <a:cubicBezTo>
                  <a:pt x="115869" y="73133"/>
                  <a:pt x="115063" y="72667"/>
                  <a:pt x="114342" y="72158"/>
                </a:cubicBezTo>
                <a:cubicBezTo>
                  <a:pt x="109000" y="69402"/>
                  <a:pt x="102895" y="67834"/>
                  <a:pt x="96494" y="67834"/>
                </a:cubicBezTo>
                <a:cubicBezTo>
                  <a:pt x="86107" y="67834"/>
                  <a:pt x="76143" y="71946"/>
                  <a:pt x="68767" y="79323"/>
                </a:cubicBezTo>
                <a:lnTo>
                  <a:pt x="38623" y="109467"/>
                </a:lnTo>
                <a:cubicBezTo>
                  <a:pt x="31288" y="116801"/>
                  <a:pt x="27134" y="126807"/>
                  <a:pt x="27134" y="137194"/>
                </a:cubicBezTo>
                <a:cubicBezTo>
                  <a:pt x="27134" y="158858"/>
                  <a:pt x="44686" y="176410"/>
                  <a:pt x="66350" y="176410"/>
                </a:cubicBezTo>
                <a:cubicBezTo>
                  <a:pt x="73345" y="176410"/>
                  <a:pt x="80171" y="174545"/>
                  <a:pt x="86149" y="171068"/>
                </a:cubicBezTo>
                <a:cubicBezTo>
                  <a:pt x="92848" y="177852"/>
                  <a:pt x="100648" y="183533"/>
                  <a:pt x="109297" y="187815"/>
                </a:cubicBezTo>
                <a:cubicBezTo>
                  <a:pt x="97342" y="197948"/>
                  <a:pt x="82164" y="203586"/>
                  <a:pt x="66350" y="203586"/>
                </a:cubicBezTo>
                <a:cubicBezTo>
                  <a:pt x="29720" y="203586"/>
                  <a:pt x="0" y="173909"/>
                  <a:pt x="0" y="137236"/>
                </a:cubicBezTo>
                <a:cubicBezTo>
                  <a:pt x="0" y="119642"/>
                  <a:pt x="6995" y="102768"/>
                  <a:pt x="19417" y="90346"/>
                </a:cubicBezTo>
                <a:lnTo>
                  <a:pt x="49561" y="60203"/>
                </a:lnTo>
                <a:cubicBezTo>
                  <a:pt x="61983" y="47780"/>
                  <a:pt x="78857" y="40785"/>
                  <a:pt x="96451" y="40785"/>
                </a:cubicBezTo>
                <a:cubicBezTo>
                  <a:pt x="133166" y="40785"/>
                  <a:pt x="162801" y="70717"/>
                  <a:pt x="162801" y="107305"/>
                </a:cubicBezTo>
                <a:cubicBezTo>
                  <a:pt x="162801" y="107856"/>
                  <a:pt x="162801" y="108407"/>
                  <a:pt x="162801" y="108958"/>
                </a:cubicBezTo>
                <a:cubicBezTo>
                  <a:pt x="162632" y="116462"/>
                  <a:pt x="156399" y="122355"/>
                  <a:pt x="148895" y="122186"/>
                </a:cubicBezTo>
                <a:cubicBezTo>
                  <a:pt x="141391" y="122016"/>
                  <a:pt x="135498" y="115784"/>
                  <a:pt x="135668" y="108280"/>
                </a:cubicBezTo>
                <a:cubicBezTo>
                  <a:pt x="135668" y="107941"/>
                  <a:pt x="135668" y="107644"/>
                  <a:pt x="135668" y="107305"/>
                </a:cubicBezTo>
                <a:cubicBezTo>
                  <a:pt x="135668" y="93017"/>
                  <a:pt x="128036" y="80468"/>
                  <a:pt x="116674" y="7355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8"/>
          <p:cNvSpPr/>
          <p:nvPr/>
        </p:nvSpPr>
        <p:spPr>
          <a:xfrm>
            <a:off x="893598" y="3340138"/>
            <a:ext cx="113960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Binding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3728" y="3701919"/>
            <a:ext cx="3093223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reservation binds a device's unique MAC address to a specific IP, ensuring consistent addressing.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3629" y="3191808"/>
            <a:ext cx="3317526" cy="1363912"/>
          </a:xfrm>
          <a:custGeom>
            <a:avLst/>
            <a:gdLst/>
            <a:ahLst/>
            <a:cxnLst/>
            <a:rect l="l" t="t" r="r" b="b"/>
            <a:pathLst>
              <a:path w="3317526" h="1363912">
                <a:moveTo>
                  <a:pt x="108540" y="0"/>
                </a:moveTo>
                <a:lnTo>
                  <a:pt x="3208986" y="0"/>
                </a:lnTo>
                <a:cubicBezTo>
                  <a:pt x="3268931" y="0"/>
                  <a:pt x="3317526" y="48595"/>
                  <a:pt x="3317526" y="108540"/>
                </a:cubicBezTo>
                <a:lnTo>
                  <a:pt x="3317526" y="1255372"/>
                </a:lnTo>
                <a:cubicBezTo>
                  <a:pt x="3317526" y="1315317"/>
                  <a:pt x="3268931" y="1363912"/>
                  <a:pt x="3208986" y="1363912"/>
                </a:cubicBezTo>
                <a:lnTo>
                  <a:pt x="108540" y="1363912"/>
                </a:lnTo>
                <a:cubicBezTo>
                  <a:pt x="48595" y="1363912"/>
                  <a:pt x="0" y="1315317"/>
                  <a:pt x="0" y="1255372"/>
                </a:cubicBezTo>
                <a:lnTo>
                  <a:pt x="0" y="108540"/>
                </a:lnTo>
                <a:cubicBezTo>
                  <a:pt x="0" y="48635"/>
                  <a:pt x="48635" y="0"/>
                  <a:pt x="10854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2659" y="3358227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67834"/>
                </a:lnTo>
                <a:cubicBezTo>
                  <a:pt x="0" y="82800"/>
                  <a:pt x="12168" y="94967"/>
                  <a:pt x="27134" y="94967"/>
                </a:cubicBezTo>
                <a:lnTo>
                  <a:pt x="162801" y="94967"/>
                </a:lnTo>
                <a:cubicBezTo>
                  <a:pt x="177767" y="94967"/>
                  <a:pt x="189935" y="82800"/>
                  <a:pt x="189935" y="67834"/>
                </a:cubicBezTo>
                <a:lnTo>
                  <a:pt x="189935" y="40700"/>
                </a:lnTo>
                <a:cubicBezTo>
                  <a:pt x="189935" y="25734"/>
                  <a:pt x="177767" y="13567"/>
                  <a:pt x="162801" y="13567"/>
                </a:cubicBezTo>
                <a:lnTo>
                  <a:pt x="27134" y="13567"/>
                </a:lnTo>
                <a:close/>
                <a:moveTo>
                  <a:pt x="118709" y="44092"/>
                </a:moveTo>
                <a:cubicBezTo>
                  <a:pt x="124325" y="44092"/>
                  <a:pt x="128884" y="48651"/>
                  <a:pt x="128884" y="54267"/>
                </a:cubicBezTo>
                <a:cubicBezTo>
                  <a:pt x="128884" y="59883"/>
                  <a:pt x="124325" y="64442"/>
                  <a:pt x="118709" y="64442"/>
                </a:cubicBezTo>
                <a:cubicBezTo>
                  <a:pt x="113093" y="64442"/>
                  <a:pt x="108534" y="59883"/>
                  <a:pt x="108534" y="54267"/>
                </a:cubicBezTo>
                <a:cubicBezTo>
                  <a:pt x="108534" y="48651"/>
                  <a:pt x="113093" y="44092"/>
                  <a:pt x="118709" y="44092"/>
                </a:cubicBezTo>
                <a:close/>
                <a:moveTo>
                  <a:pt x="142451" y="54267"/>
                </a:moveTo>
                <a:cubicBezTo>
                  <a:pt x="142451" y="48651"/>
                  <a:pt x="147010" y="44092"/>
                  <a:pt x="152626" y="44092"/>
                </a:cubicBezTo>
                <a:cubicBezTo>
                  <a:pt x="158242" y="44092"/>
                  <a:pt x="162801" y="48651"/>
                  <a:pt x="162801" y="54267"/>
                </a:cubicBezTo>
                <a:cubicBezTo>
                  <a:pt x="162801" y="59883"/>
                  <a:pt x="158242" y="64442"/>
                  <a:pt x="152626" y="64442"/>
                </a:cubicBezTo>
                <a:cubicBezTo>
                  <a:pt x="147010" y="64442"/>
                  <a:pt x="142451" y="59883"/>
                  <a:pt x="142451" y="54267"/>
                </a:cubicBezTo>
                <a:close/>
                <a:moveTo>
                  <a:pt x="27134" y="122101"/>
                </a:moveTo>
                <a:cubicBezTo>
                  <a:pt x="12168" y="122101"/>
                  <a:pt x="0" y="134269"/>
                  <a:pt x="0" y="149234"/>
                </a:cubicBezTo>
                <a:lnTo>
                  <a:pt x="0" y="176368"/>
                </a:lnTo>
                <a:cubicBezTo>
                  <a:pt x="0" y="191334"/>
                  <a:pt x="12168" y="203501"/>
                  <a:pt x="27134" y="203501"/>
                </a:cubicBezTo>
                <a:lnTo>
                  <a:pt x="162801" y="203501"/>
                </a:lnTo>
                <a:cubicBezTo>
                  <a:pt x="177767" y="203501"/>
                  <a:pt x="189935" y="191334"/>
                  <a:pt x="189935" y="176368"/>
                </a:cubicBezTo>
                <a:lnTo>
                  <a:pt x="189935" y="149234"/>
                </a:lnTo>
                <a:cubicBezTo>
                  <a:pt x="189935" y="134269"/>
                  <a:pt x="177767" y="122101"/>
                  <a:pt x="162801" y="122101"/>
                </a:cubicBezTo>
                <a:lnTo>
                  <a:pt x="27134" y="122101"/>
                </a:lnTo>
                <a:close/>
                <a:moveTo>
                  <a:pt x="118709" y="152626"/>
                </a:moveTo>
                <a:cubicBezTo>
                  <a:pt x="124325" y="152626"/>
                  <a:pt x="128884" y="157185"/>
                  <a:pt x="128884" y="162801"/>
                </a:cubicBezTo>
                <a:cubicBezTo>
                  <a:pt x="128884" y="168417"/>
                  <a:pt x="124325" y="172976"/>
                  <a:pt x="118709" y="172976"/>
                </a:cubicBezTo>
                <a:cubicBezTo>
                  <a:pt x="113093" y="172976"/>
                  <a:pt x="108534" y="168417"/>
                  <a:pt x="108534" y="162801"/>
                </a:cubicBezTo>
                <a:cubicBezTo>
                  <a:pt x="108534" y="157185"/>
                  <a:pt x="113093" y="152626"/>
                  <a:pt x="118709" y="152626"/>
                </a:cubicBezTo>
                <a:close/>
                <a:moveTo>
                  <a:pt x="142451" y="162801"/>
                </a:moveTo>
                <a:cubicBezTo>
                  <a:pt x="142451" y="157185"/>
                  <a:pt x="147010" y="152626"/>
                  <a:pt x="152626" y="152626"/>
                </a:cubicBezTo>
                <a:cubicBezTo>
                  <a:pt x="158242" y="152626"/>
                  <a:pt x="162801" y="157185"/>
                  <a:pt x="162801" y="162801"/>
                </a:cubicBezTo>
                <a:cubicBezTo>
                  <a:pt x="162801" y="168417"/>
                  <a:pt x="158242" y="172976"/>
                  <a:pt x="152626" y="172976"/>
                </a:cubicBezTo>
                <a:cubicBezTo>
                  <a:pt x="147010" y="172976"/>
                  <a:pt x="142451" y="168417"/>
                  <a:pt x="142451" y="162801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361828" y="3340138"/>
            <a:ext cx="130240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81959" y="3701919"/>
            <a:ext cx="3093223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reservations are managed from the DHCP server, eliminating the need to configure each device manually.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398" y="4743847"/>
            <a:ext cx="6781574" cy="1743782"/>
          </a:xfrm>
          <a:custGeom>
            <a:avLst/>
            <a:gdLst/>
            <a:ahLst/>
            <a:cxnLst/>
            <a:rect l="l" t="t" r="r" b="b"/>
            <a:pathLst>
              <a:path w="6781574" h="1743782">
                <a:moveTo>
                  <a:pt x="108533" y="0"/>
                </a:moveTo>
                <a:lnTo>
                  <a:pt x="6673041" y="0"/>
                </a:lnTo>
                <a:cubicBezTo>
                  <a:pt x="6732982" y="0"/>
                  <a:pt x="6781574" y="48592"/>
                  <a:pt x="6781574" y="108533"/>
                </a:cubicBezTo>
                <a:lnTo>
                  <a:pt x="6781574" y="1635249"/>
                </a:lnTo>
                <a:cubicBezTo>
                  <a:pt x="6781574" y="1695190"/>
                  <a:pt x="6732982" y="1743782"/>
                  <a:pt x="6673041" y="1743782"/>
                </a:cubicBezTo>
                <a:lnTo>
                  <a:pt x="108533" y="1743782"/>
                </a:lnTo>
                <a:cubicBezTo>
                  <a:pt x="48632" y="1743782"/>
                  <a:pt x="0" y="1695150"/>
                  <a:pt x="0" y="1635249"/>
                </a:cubicBezTo>
                <a:lnTo>
                  <a:pt x="0" y="108533"/>
                </a:lnTo>
                <a:cubicBezTo>
                  <a:pt x="0" y="48632"/>
                  <a:pt x="48632" y="0"/>
                  <a:pt x="108533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6339" y="4928355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180890"/>
                </a:moveTo>
                <a:cubicBezTo>
                  <a:pt x="140363" y="180890"/>
                  <a:pt x="180890" y="140363"/>
                  <a:pt x="180890" y="90445"/>
                </a:cubicBezTo>
                <a:cubicBezTo>
                  <a:pt x="180890" y="40527"/>
                  <a:pt x="140363" y="0"/>
                  <a:pt x="90445" y="0"/>
                </a:cubicBezTo>
                <a:cubicBezTo>
                  <a:pt x="40527" y="0"/>
                  <a:pt x="0" y="40527"/>
                  <a:pt x="0" y="90445"/>
                </a:cubicBezTo>
                <a:cubicBezTo>
                  <a:pt x="0" y="140363"/>
                  <a:pt x="40527" y="180890"/>
                  <a:pt x="90445" y="180890"/>
                </a:cubicBezTo>
                <a:close/>
                <a:moveTo>
                  <a:pt x="79139" y="56528"/>
                </a:moveTo>
                <a:cubicBezTo>
                  <a:pt x="79139" y="50288"/>
                  <a:pt x="84205" y="45223"/>
                  <a:pt x="90445" y="45223"/>
                </a:cubicBezTo>
                <a:cubicBezTo>
                  <a:pt x="96685" y="45223"/>
                  <a:pt x="101751" y="50288"/>
                  <a:pt x="101751" y="56528"/>
                </a:cubicBezTo>
                <a:cubicBezTo>
                  <a:pt x="101751" y="62768"/>
                  <a:pt x="96685" y="67834"/>
                  <a:pt x="90445" y="67834"/>
                </a:cubicBezTo>
                <a:cubicBezTo>
                  <a:pt x="84205" y="67834"/>
                  <a:pt x="79139" y="62768"/>
                  <a:pt x="79139" y="56528"/>
                </a:cubicBezTo>
                <a:close/>
                <a:moveTo>
                  <a:pt x="76313" y="79139"/>
                </a:moveTo>
                <a:lnTo>
                  <a:pt x="93272" y="79139"/>
                </a:lnTo>
                <a:cubicBezTo>
                  <a:pt x="97970" y="79139"/>
                  <a:pt x="101751" y="82920"/>
                  <a:pt x="101751" y="87619"/>
                </a:cubicBezTo>
                <a:lnTo>
                  <a:pt x="101751" y="118709"/>
                </a:lnTo>
                <a:lnTo>
                  <a:pt x="104577" y="118709"/>
                </a:lnTo>
                <a:cubicBezTo>
                  <a:pt x="109276" y="118709"/>
                  <a:pt x="113056" y="122490"/>
                  <a:pt x="113056" y="127188"/>
                </a:cubicBezTo>
                <a:cubicBezTo>
                  <a:pt x="113056" y="131887"/>
                  <a:pt x="109276" y="135668"/>
                  <a:pt x="104577" y="135668"/>
                </a:cubicBezTo>
                <a:lnTo>
                  <a:pt x="76313" y="135668"/>
                </a:lnTo>
                <a:cubicBezTo>
                  <a:pt x="71614" y="135668"/>
                  <a:pt x="67834" y="131887"/>
                  <a:pt x="67834" y="127188"/>
                </a:cubicBezTo>
                <a:cubicBezTo>
                  <a:pt x="67834" y="122490"/>
                  <a:pt x="71614" y="118709"/>
                  <a:pt x="76313" y="118709"/>
                </a:cubicBezTo>
                <a:lnTo>
                  <a:pt x="84792" y="118709"/>
                </a:lnTo>
                <a:lnTo>
                  <a:pt x="84792" y="96098"/>
                </a:lnTo>
                <a:lnTo>
                  <a:pt x="76313" y="96098"/>
                </a:lnTo>
                <a:cubicBezTo>
                  <a:pt x="71614" y="96098"/>
                  <a:pt x="67834" y="92318"/>
                  <a:pt x="67834" y="87619"/>
                </a:cubicBezTo>
                <a:cubicBezTo>
                  <a:pt x="67834" y="82920"/>
                  <a:pt x="71614" y="79139"/>
                  <a:pt x="76313" y="7913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739841" y="4892177"/>
            <a:ext cx="634924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3728" y="5253957"/>
            <a:ext cx="655727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Device broadcasts DHCP Discover with its MAC address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728" y="5543382"/>
            <a:ext cx="655727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Server checks reservations for matching MAC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3728" y="5832806"/>
            <a:ext cx="655727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match found, server offers the reserved IP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3728" y="6122230"/>
            <a:ext cx="655727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Device receives consistent IP every time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74215" y="1306027"/>
            <a:ext cx="4448090" cy="5180696"/>
          </a:xfrm>
          <a:custGeom>
            <a:avLst/>
            <a:gdLst/>
            <a:ahLst/>
            <a:cxnLst/>
            <a:rect l="l" t="t" r="r" b="b"/>
            <a:pathLst>
              <a:path w="4448090" h="5180696">
                <a:moveTo>
                  <a:pt x="108533" y="0"/>
                </a:moveTo>
                <a:lnTo>
                  <a:pt x="4339557" y="0"/>
                </a:lnTo>
                <a:cubicBezTo>
                  <a:pt x="4399498" y="0"/>
                  <a:pt x="4448090" y="48592"/>
                  <a:pt x="4448090" y="108533"/>
                </a:cubicBezTo>
                <a:lnTo>
                  <a:pt x="4448090" y="5072162"/>
                </a:lnTo>
                <a:cubicBezTo>
                  <a:pt x="4448090" y="5132103"/>
                  <a:pt x="4399498" y="5180696"/>
                  <a:pt x="4339557" y="5180696"/>
                </a:cubicBezTo>
                <a:lnTo>
                  <a:pt x="108533" y="5180696"/>
                </a:lnTo>
                <a:cubicBezTo>
                  <a:pt x="48592" y="5180696"/>
                  <a:pt x="0" y="5132103"/>
                  <a:pt x="0" y="5072162"/>
                </a:cubicBezTo>
                <a:lnTo>
                  <a:pt x="0" y="108533"/>
                </a:lnTo>
                <a:cubicBezTo>
                  <a:pt x="0" y="48632"/>
                  <a:pt x="48632" y="0"/>
                  <a:pt x="108533" y="0"/>
                </a:cubicBezTo>
                <a:close/>
              </a:path>
            </a:pathLst>
          </a:custGeom>
          <a:solidFill>
            <a:srgbClr val="37474F">
              <a:alpha val="2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4457" y="1490536"/>
            <a:ext cx="4187608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 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58724" y="2058418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98914" y="2221219"/>
            <a:ext cx="226113" cy="180890"/>
          </a:xfrm>
          <a:custGeom>
            <a:avLst/>
            <a:gdLst/>
            <a:ahLst/>
            <a:cxnLst/>
            <a:rect l="l" t="t" r="r" b="b"/>
            <a:pathLst>
              <a:path w="226113" h="180890">
                <a:moveTo>
                  <a:pt x="45223" y="11306"/>
                </a:moveTo>
                <a:cubicBezTo>
                  <a:pt x="32751" y="11306"/>
                  <a:pt x="22611" y="21445"/>
                  <a:pt x="22611" y="33917"/>
                </a:cubicBezTo>
                <a:lnTo>
                  <a:pt x="22611" y="118709"/>
                </a:lnTo>
                <a:lnTo>
                  <a:pt x="45223" y="118709"/>
                </a:lnTo>
                <a:lnTo>
                  <a:pt x="45223" y="33917"/>
                </a:lnTo>
                <a:lnTo>
                  <a:pt x="180890" y="33917"/>
                </a:lnTo>
                <a:lnTo>
                  <a:pt x="180890" y="118709"/>
                </a:lnTo>
                <a:lnTo>
                  <a:pt x="203501" y="118709"/>
                </a:lnTo>
                <a:lnTo>
                  <a:pt x="203501" y="33917"/>
                </a:lnTo>
                <a:cubicBezTo>
                  <a:pt x="203501" y="21445"/>
                  <a:pt x="193362" y="11306"/>
                  <a:pt x="180890" y="11306"/>
                </a:cubicBezTo>
                <a:lnTo>
                  <a:pt x="45223" y="11306"/>
                </a:lnTo>
                <a:close/>
                <a:moveTo>
                  <a:pt x="6783" y="135668"/>
                </a:moveTo>
                <a:cubicBezTo>
                  <a:pt x="3038" y="135668"/>
                  <a:pt x="0" y="138706"/>
                  <a:pt x="0" y="142451"/>
                </a:cubicBezTo>
                <a:cubicBezTo>
                  <a:pt x="0" y="157431"/>
                  <a:pt x="12154" y="169585"/>
                  <a:pt x="27134" y="169585"/>
                </a:cubicBezTo>
                <a:lnTo>
                  <a:pt x="198979" y="169585"/>
                </a:lnTo>
                <a:cubicBezTo>
                  <a:pt x="213959" y="169585"/>
                  <a:pt x="226113" y="157431"/>
                  <a:pt x="226113" y="142451"/>
                </a:cubicBezTo>
                <a:cubicBezTo>
                  <a:pt x="226113" y="138706"/>
                  <a:pt x="223074" y="135668"/>
                  <a:pt x="219329" y="135668"/>
                </a:cubicBezTo>
                <a:lnTo>
                  <a:pt x="6783" y="13566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Shape 25"/>
          <p:cNvSpPr/>
          <p:nvPr/>
        </p:nvSpPr>
        <p:spPr>
          <a:xfrm>
            <a:off x="8177368" y="2000532"/>
            <a:ext cx="3453194" cy="622262"/>
          </a:xfrm>
          <a:custGeom>
            <a:avLst/>
            <a:gdLst/>
            <a:ahLst/>
            <a:cxnLst/>
            <a:rect l="l" t="t" r="r" b="b"/>
            <a:pathLst>
              <a:path w="3453194" h="622262">
                <a:moveTo>
                  <a:pt x="72357" y="0"/>
                </a:moveTo>
                <a:lnTo>
                  <a:pt x="3380837" y="0"/>
                </a:lnTo>
                <a:cubicBezTo>
                  <a:pt x="3420799" y="0"/>
                  <a:pt x="3453194" y="32395"/>
                  <a:pt x="3453194" y="72357"/>
                </a:cubicBezTo>
                <a:lnTo>
                  <a:pt x="3453194" y="549906"/>
                </a:lnTo>
                <a:cubicBezTo>
                  <a:pt x="3453194" y="589867"/>
                  <a:pt x="3420799" y="622262"/>
                  <a:pt x="3380837" y="622262"/>
                </a:cubicBezTo>
                <a:lnTo>
                  <a:pt x="72357" y="622262"/>
                </a:lnTo>
                <a:cubicBezTo>
                  <a:pt x="32422" y="622262"/>
                  <a:pt x="0" y="589840"/>
                  <a:pt x="0" y="549906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9520" y="2112685"/>
            <a:ext cx="330124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Device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89520" y="2329753"/>
            <a:ext cx="3292202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MAC: 00-1A-2B-3C-4D-5E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16973" y="2803912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71819" y="213083"/>
                </a:moveTo>
                <a:cubicBezTo>
                  <a:pt x="77119" y="218383"/>
                  <a:pt x="85725" y="218383"/>
                  <a:pt x="91025" y="213083"/>
                </a:cubicBezTo>
                <a:lnTo>
                  <a:pt x="158858" y="145249"/>
                </a:lnTo>
                <a:cubicBezTo>
                  <a:pt x="164158" y="139950"/>
                  <a:pt x="164158" y="131343"/>
                  <a:pt x="158858" y="126044"/>
                </a:cubicBezTo>
                <a:cubicBezTo>
                  <a:pt x="153559" y="120744"/>
                  <a:pt x="144952" y="120744"/>
                  <a:pt x="139653" y="126044"/>
                </a:cubicBezTo>
                <a:lnTo>
                  <a:pt x="94967" y="170729"/>
                </a:lnTo>
                <a:lnTo>
                  <a:pt x="94967" y="13567"/>
                </a:lnTo>
                <a:cubicBezTo>
                  <a:pt x="94967" y="6063"/>
                  <a:pt x="88905" y="0"/>
                  <a:pt x="81401" y="0"/>
                </a:cubicBezTo>
                <a:cubicBezTo>
                  <a:pt x="73896" y="0"/>
                  <a:pt x="67834" y="6063"/>
                  <a:pt x="67834" y="13567"/>
                </a:cubicBezTo>
                <a:lnTo>
                  <a:pt x="67834" y="170729"/>
                </a:lnTo>
                <a:lnTo>
                  <a:pt x="23148" y="126044"/>
                </a:lnTo>
                <a:cubicBezTo>
                  <a:pt x="17849" y="120744"/>
                  <a:pt x="9242" y="120744"/>
                  <a:pt x="3943" y="126044"/>
                </a:cubicBezTo>
                <a:cubicBezTo>
                  <a:pt x="-1357" y="131343"/>
                  <a:pt x="-1357" y="139950"/>
                  <a:pt x="3943" y="145249"/>
                </a:cubicBezTo>
                <a:lnTo>
                  <a:pt x="71777" y="21308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7558724" y="3259868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710219" y="3422669"/>
            <a:ext cx="203501" cy="180890"/>
          </a:xfrm>
          <a:custGeom>
            <a:avLst/>
            <a:gdLst/>
            <a:ahLst/>
            <a:cxnLst/>
            <a:rect l="l" t="t" r="r" b="b"/>
            <a:pathLst>
              <a:path w="203501" h="180890">
                <a:moveTo>
                  <a:pt x="31055" y="4063"/>
                </a:moveTo>
                <a:cubicBezTo>
                  <a:pt x="27063" y="1625"/>
                  <a:pt x="21834" y="2932"/>
                  <a:pt x="19396" y="6925"/>
                </a:cubicBezTo>
                <a:cubicBezTo>
                  <a:pt x="10634" y="21410"/>
                  <a:pt x="5617" y="38404"/>
                  <a:pt x="5617" y="56528"/>
                </a:cubicBezTo>
                <a:cubicBezTo>
                  <a:pt x="5617" y="74653"/>
                  <a:pt x="10634" y="91646"/>
                  <a:pt x="19396" y="106132"/>
                </a:cubicBezTo>
                <a:cubicBezTo>
                  <a:pt x="21834" y="110124"/>
                  <a:pt x="27028" y="111431"/>
                  <a:pt x="31055" y="108993"/>
                </a:cubicBezTo>
                <a:cubicBezTo>
                  <a:pt x="35083" y="106556"/>
                  <a:pt x="36355" y="101362"/>
                  <a:pt x="33917" y="97334"/>
                </a:cubicBezTo>
                <a:cubicBezTo>
                  <a:pt x="26745" y="85464"/>
                  <a:pt x="22611" y="71473"/>
                  <a:pt x="22611" y="56528"/>
                </a:cubicBezTo>
                <a:cubicBezTo>
                  <a:pt x="22611" y="41584"/>
                  <a:pt x="26745" y="27593"/>
                  <a:pt x="33952" y="15687"/>
                </a:cubicBezTo>
                <a:cubicBezTo>
                  <a:pt x="36390" y="11694"/>
                  <a:pt x="35083" y="6465"/>
                  <a:pt x="31091" y="4028"/>
                </a:cubicBezTo>
                <a:close/>
                <a:moveTo>
                  <a:pt x="172411" y="4063"/>
                </a:moveTo>
                <a:cubicBezTo>
                  <a:pt x="168419" y="6501"/>
                  <a:pt x="167111" y="11694"/>
                  <a:pt x="169549" y="15722"/>
                </a:cubicBezTo>
                <a:cubicBezTo>
                  <a:pt x="176757" y="27628"/>
                  <a:pt x="180890" y="41619"/>
                  <a:pt x="180890" y="56564"/>
                </a:cubicBezTo>
                <a:cubicBezTo>
                  <a:pt x="180890" y="71508"/>
                  <a:pt x="176757" y="85499"/>
                  <a:pt x="169549" y="97405"/>
                </a:cubicBezTo>
                <a:cubicBezTo>
                  <a:pt x="167111" y="101397"/>
                  <a:pt x="168419" y="106626"/>
                  <a:pt x="172411" y="109064"/>
                </a:cubicBezTo>
                <a:cubicBezTo>
                  <a:pt x="176403" y="111502"/>
                  <a:pt x="181632" y="110195"/>
                  <a:pt x="184070" y="106202"/>
                </a:cubicBezTo>
                <a:cubicBezTo>
                  <a:pt x="192832" y="91717"/>
                  <a:pt x="197849" y="74723"/>
                  <a:pt x="197849" y="56599"/>
                </a:cubicBezTo>
                <a:cubicBezTo>
                  <a:pt x="197849" y="38474"/>
                  <a:pt x="192832" y="21410"/>
                  <a:pt x="184070" y="6925"/>
                </a:cubicBezTo>
                <a:cubicBezTo>
                  <a:pt x="181632" y="2932"/>
                  <a:pt x="176439" y="1625"/>
                  <a:pt x="172411" y="4063"/>
                </a:cubicBezTo>
                <a:close/>
                <a:moveTo>
                  <a:pt x="113056" y="76101"/>
                </a:moveTo>
                <a:cubicBezTo>
                  <a:pt x="119804" y="72179"/>
                  <a:pt x="124362" y="64901"/>
                  <a:pt x="124362" y="56528"/>
                </a:cubicBezTo>
                <a:cubicBezTo>
                  <a:pt x="124362" y="44057"/>
                  <a:pt x="114222" y="33917"/>
                  <a:pt x="101751" y="33917"/>
                </a:cubicBezTo>
                <a:cubicBezTo>
                  <a:pt x="89279" y="33917"/>
                  <a:pt x="79139" y="44057"/>
                  <a:pt x="79139" y="56528"/>
                </a:cubicBezTo>
                <a:cubicBezTo>
                  <a:pt x="79139" y="64901"/>
                  <a:pt x="83697" y="72215"/>
                  <a:pt x="90445" y="76101"/>
                </a:cubicBezTo>
                <a:lnTo>
                  <a:pt x="90445" y="169585"/>
                </a:lnTo>
                <a:cubicBezTo>
                  <a:pt x="90445" y="175838"/>
                  <a:pt x="95497" y="180890"/>
                  <a:pt x="101751" y="180890"/>
                </a:cubicBezTo>
                <a:cubicBezTo>
                  <a:pt x="108004" y="180890"/>
                  <a:pt x="113056" y="175838"/>
                  <a:pt x="113056" y="169585"/>
                </a:cubicBezTo>
                <a:lnTo>
                  <a:pt x="113056" y="76101"/>
                </a:lnTo>
                <a:close/>
                <a:moveTo>
                  <a:pt x="63665" y="32150"/>
                </a:moveTo>
                <a:cubicBezTo>
                  <a:pt x="66209" y="28193"/>
                  <a:pt x="65043" y="22965"/>
                  <a:pt x="61121" y="20421"/>
                </a:cubicBezTo>
                <a:cubicBezTo>
                  <a:pt x="57199" y="17877"/>
                  <a:pt x="51935" y="19043"/>
                  <a:pt x="49392" y="22965"/>
                </a:cubicBezTo>
                <a:cubicBezTo>
                  <a:pt x="43173" y="32645"/>
                  <a:pt x="39570" y="44163"/>
                  <a:pt x="39570" y="56528"/>
                </a:cubicBezTo>
                <a:cubicBezTo>
                  <a:pt x="39570" y="68894"/>
                  <a:pt x="43173" y="80411"/>
                  <a:pt x="49392" y="90092"/>
                </a:cubicBezTo>
                <a:cubicBezTo>
                  <a:pt x="51935" y="94049"/>
                  <a:pt x="57164" y="95179"/>
                  <a:pt x="61121" y="92636"/>
                </a:cubicBezTo>
                <a:cubicBezTo>
                  <a:pt x="65078" y="90092"/>
                  <a:pt x="66209" y="84863"/>
                  <a:pt x="63665" y="80906"/>
                </a:cubicBezTo>
                <a:cubicBezTo>
                  <a:pt x="59143" y="73875"/>
                  <a:pt x="56528" y="65502"/>
                  <a:pt x="56528" y="56528"/>
                </a:cubicBezTo>
                <a:cubicBezTo>
                  <a:pt x="56528" y="47554"/>
                  <a:pt x="59143" y="39181"/>
                  <a:pt x="63665" y="32150"/>
                </a:cubicBezTo>
                <a:close/>
                <a:moveTo>
                  <a:pt x="154110" y="22965"/>
                </a:moveTo>
                <a:cubicBezTo>
                  <a:pt x="151566" y="19008"/>
                  <a:pt x="146337" y="17877"/>
                  <a:pt x="142380" y="20421"/>
                </a:cubicBezTo>
                <a:cubicBezTo>
                  <a:pt x="138423" y="22965"/>
                  <a:pt x="137293" y="28193"/>
                  <a:pt x="139837" y="32150"/>
                </a:cubicBezTo>
                <a:cubicBezTo>
                  <a:pt x="144359" y="39181"/>
                  <a:pt x="146973" y="47554"/>
                  <a:pt x="146973" y="56528"/>
                </a:cubicBezTo>
                <a:cubicBezTo>
                  <a:pt x="146973" y="65502"/>
                  <a:pt x="144359" y="73875"/>
                  <a:pt x="139837" y="80906"/>
                </a:cubicBezTo>
                <a:cubicBezTo>
                  <a:pt x="137293" y="84863"/>
                  <a:pt x="138459" y="90092"/>
                  <a:pt x="142380" y="92636"/>
                </a:cubicBezTo>
                <a:cubicBezTo>
                  <a:pt x="146302" y="95179"/>
                  <a:pt x="151566" y="94013"/>
                  <a:pt x="154110" y="90092"/>
                </a:cubicBezTo>
                <a:cubicBezTo>
                  <a:pt x="160328" y="80411"/>
                  <a:pt x="163932" y="68894"/>
                  <a:pt x="163932" y="56528"/>
                </a:cubicBezTo>
                <a:cubicBezTo>
                  <a:pt x="163932" y="44163"/>
                  <a:pt x="160328" y="32645"/>
                  <a:pt x="154110" y="22965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77368" y="3201983"/>
            <a:ext cx="3453194" cy="622262"/>
          </a:xfrm>
          <a:custGeom>
            <a:avLst/>
            <a:gdLst/>
            <a:ahLst/>
            <a:cxnLst/>
            <a:rect l="l" t="t" r="r" b="b"/>
            <a:pathLst>
              <a:path w="3453194" h="622262">
                <a:moveTo>
                  <a:pt x="72357" y="0"/>
                </a:moveTo>
                <a:lnTo>
                  <a:pt x="3380837" y="0"/>
                </a:lnTo>
                <a:cubicBezTo>
                  <a:pt x="3420799" y="0"/>
                  <a:pt x="3453194" y="32395"/>
                  <a:pt x="3453194" y="72357"/>
                </a:cubicBezTo>
                <a:lnTo>
                  <a:pt x="3453194" y="549906"/>
                </a:lnTo>
                <a:cubicBezTo>
                  <a:pt x="3453194" y="589867"/>
                  <a:pt x="3420799" y="622262"/>
                  <a:pt x="3380837" y="622262"/>
                </a:cubicBezTo>
                <a:lnTo>
                  <a:pt x="72357" y="622262"/>
                </a:lnTo>
                <a:cubicBezTo>
                  <a:pt x="32422" y="622262"/>
                  <a:pt x="0" y="589840"/>
                  <a:pt x="0" y="549906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9520" y="3314135"/>
            <a:ext cx="330124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Discover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89520" y="3531203"/>
            <a:ext cx="3292202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 request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16973" y="4005361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71819" y="213083"/>
                </a:moveTo>
                <a:cubicBezTo>
                  <a:pt x="77119" y="218383"/>
                  <a:pt x="85725" y="218383"/>
                  <a:pt x="91025" y="213083"/>
                </a:cubicBezTo>
                <a:lnTo>
                  <a:pt x="158858" y="145249"/>
                </a:lnTo>
                <a:cubicBezTo>
                  <a:pt x="164158" y="139950"/>
                  <a:pt x="164158" y="131343"/>
                  <a:pt x="158858" y="126044"/>
                </a:cubicBezTo>
                <a:cubicBezTo>
                  <a:pt x="153559" y="120744"/>
                  <a:pt x="144952" y="120744"/>
                  <a:pt x="139653" y="126044"/>
                </a:cubicBezTo>
                <a:lnTo>
                  <a:pt x="94967" y="170729"/>
                </a:lnTo>
                <a:lnTo>
                  <a:pt x="94967" y="13567"/>
                </a:lnTo>
                <a:cubicBezTo>
                  <a:pt x="94967" y="6063"/>
                  <a:pt x="88905" y="0"/>
                  <a:pt x="81401" y="0"/>
                </a:cubicBezTo>
                <a:cubicBezTo>
                  <a:pt x="73896" y="0"/>
                  <a:pt x="67834" y="6063"/>
                  <a:pt x="67834" y="13567"/>
                </a:cubicBezTo>
                <a:lnTo>
                  <a:pt x="67834" y="170729"/>
                </a:lnTo>
                <a:lnTo>
                  <a:pt x="23148" y="126044"/>
                </a:lnTo>
                <a:cubicBezTo>
                  <a:pt x="17849" y="120744"/>
                  <a:pt x="9242" y="120744"/>
                  <a:pt x="3943" y="126044"/>
                </a:cubicBezTo>
                <a:cubicBezTo>
                  <a:pt x="-1357" y="131343"/>
                  <a:pt x="-1357" y="139950"/>
                  <a:pt x="3943" y="145249"/>
                </a:cubicBezTo>
                <a:lnTo>
                  <a:pt x="71777" y="21308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Shape 35"/>
          <p:cNvSpPr/>
          <p:nvPr/>
        </p:nvSpPr>
        <p:spPr>
          <a:xfrm>
            <a:off x="7558724" y="4461318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32831" y="4624119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2611" y="11306"/>
                </a:moveTo>
                <a:cubicBezTo>
                  <a:pt x="10140" y="11306"/>
                  <a:pt x="0" y="21445"/>
                  <a:pt x="0" y="33917"/>
                </a:cubicBezTo>
                <a:lnTo>
                  <a:pt x="0" y="56528"/>
                </a:lnTo>
                <a:cubicBezTo>
                  <a:pt x="0" y="69000"/>
                  <a:pt x="10140" y="79139"/>
                  <a:pt x="22611" y="79139"/>
                </a:cubicBezTo>
                <a:lnTo>
                  <a:pt x="135668" y="79139"/>
                </a:lnTo>
                <a:cubicBezTo>
                  <a:pt x="148139" y="79139"/>
                  <a:pt x="158279" y="69000"/>
                  <a:pt x="158279" y="56528"/>
                </a:cubicBezTo>
                <a:lnTo>
                  <a:pt x="158279" y="33917"/>
                </a:lnTo>
                <a:cubicBezTo>
                  <a:pt x="158279" y="21445"/>
                  <a:pt x="148139" y="11306"/>
                  <a:pt x="135668" y="11306"/>
                </a:cubicBezTo>
                <a:lnTo>
                  <a:pt x="22611" y="11306"/>
                </a:lnTo>
                <a:close/>
                <a:moveTo>
                  <a:pt x="98924" y="36743"/>
                </a:moveTo>
                <a:cubicBezTo>
                  <a:pt x="103604" y="36743"/>
                  <a:pt x="107404" y="40543"/>
                  <a:pt x="107404" y="45223"/>
                </a:cubicBezTo>
                <a:cubicBezTo>
                  <a:pt x="107404" y="49902"/>
                  <a:pt x="103604" y="53702"/>
                  <a:pt x="98924" y="53702"/>
                </a:cubicBezTo>
                <a:cubicBezTo>
                  <a:pt x="94245" y="53702"/>
                  <a:pt x="90445" y="49902"/>
                  <a:pt x="90445" y="45223"/>
                </a:cubicBezTo>
                <a:cubicBezTo>
                  <a:pt x="90445" y="40543"/>
                  <a:pt x="94245" y="36743"/>
                  <a:pt x="98924" y="36743"/>
                </a:cubicBezTo>
                <a:close/>
                <a:moveTo>
                  <a:pt x="118709" y="45223"/>
                </a:moveTo>
                <a:cubicBezTo>
                  <a:pt x="118709" y="40543"/>
                  <a:pt x="122509" y="36743"/>
                  <a:pt x="127188" y="36743"/>
                </a:cubicBezTo>
                <a:cubicBezTo>
                  <a:pt x="131868" y="36743"/>
                  <a:pt x="135668" y="40543"/>
                  <a:pt x="135668" y="45223"/>
                </a:cubicBezTo>
                <a:cubicBezTo>
                  <a:pt x="135668" y="49902"/>
                  <a:pt x="131868" y="53702"/>
                  <a:pt x="127188" y="53702"/>
                </a:cubicBezTo>
                <a:cubicBezTo>
                  <a:pt x="122509" y="53702"/>
                  <a:pt x="118709" y="49902"/>
                  <a:pt x="118709" y="45223"/>
                </a:cubicBezTo>
                <a:close/>
                <a:moveTo>
                  <a:pt x="22611" y="101751"/>
                </a:moveTo>
                <a:cubicBezTo>
                  <a:pt x="10140" y="101751"/>
                  <a:pt x="0" y="111890"/>
                  <a:pt x="0" y="124362"/>
                </a:cubicBezTo>
                <a:lnTo>
                  <a:pt x="0" y="146973"/>
                </a:lnTo>
                <a:cubicBezTo>
                  <a:pt x="0" y="159445"/>
                  <a:pt x="10140" y="169585"/>
                  <a:pt x="22611" y="169585"/>
                </a:cubicBezTo>
                <a:lnTo>
                  <a:pt x="135668" y="169585"/>
                </a:lnTo>
                <a:cubicBezTo>
                  <a:pt x="148139" y="169585"/>
                  <a:pt x="158279" y="159445"/>
                  <a:pt x="158279" y="146973"/>
                </a:cubicBezTo>
                <a:lnTo>
                  <a:pt x="158279" y="124362"/>
                </a:lnTo>
                <a:cubicBezTo>
                  <a:pt x="158279" y="111890"/>
                  <a:pt x="148139" y="101751"/>
                  <a:pt x="135668" y="101751"/>
                </a:cubicBezTo>
                <a:lnTo>
                  <a:pt x="22611" y="101751"/>
                </a:lnTo>
                <a:close/>
                <a:moveTo>
                  <a:pt x="98924" y="127188"/>
                </a:moveTo>
                <a:cubicBezTo>
                  <a:pt x="103604" y="127188"/>
                  <a:pt x="107404" y="130988"/>
                  <a:pt x="107404" y="135668"/>
                </a:cubicBezTo>
                <a:cubicBezTo>
                  <a:pt x="107404" y="140347"/>
                  <a:pt x="103604" y="144147"/>
                  <a:pt x="98924" y="144147"/>
                </a:cubicBezTo>
                <a:cubicBezTo>
                  <a:pt x="94245" y="144147"/>
                  <a:pt x="90445" y="140347"/>
                  <a:pt x="90445" y="135668"/>
                </a:cubicBezTo>
                <a:cubicBezTo>
                  <a:pt x="90445" y="130988"/>
                  <a:pt x="94245" y="127188"/>
                  <a:pt x="98924" y="127188"/>
                </a:cubicBezTo>
                <a:close/>
                <a:moveTo>
                  <a:pt x="118709" y="135668"/>
                </a:moveTo>
                <a:cubicBezTo>
                  <a:pt x="118709" y="130988"/>
                  <a:pt x="122509" y="127188"/>
                  <a:pt x="127188" y="127188"/>
                </a:cubicBezTo>
                <a:cubicBezTo>
                  <a:pt x="131868" y="127188"/>
                  <a:pt x="135668" y="130988"/>
                  <a:pt x="135668" y="135668"/>
                </a:cubicBezTo>
                <a:cubicBezTo>
                  <a:pt x="135668" y="140347"/>
                  <a:pt x="131868" y="144147"/>
                  <a:pt x="127188" y="144147"/>
                </a:cubicBezTo>
                <a:cubicBezTo>
                  <a:pt x="122509" y="144147"/>
                  <a:pt x="118709" y="140347"/>
                  <a:pt x="118709" y="13566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Shape 37"/>
          <p:cNvSpPr/>
          <p:nvPr/>
        </p:nvSpPr>
        <p:spPr>
          <a:xfrm>
            <a:off x="8177368" y="4403433"/>
            <a:ext cx="3453194" cy="622262"/>
          </a:xfrm>
          <a:custGeom>
            <a:avLst/>
            <a:gdLst/>
            <a:ahLst/>
            <a:cxnLst/>
            <a:rect l="l" t="t" r="r" b="b"/>
            <a:pathLst>
              <a:path w="3453194" h="622262">
                <a:moveTo>
                  <a:pt x="72357" y="0"/>
                </a:moveTo>
                <a:lnTo>
                  <a:pt x="3380837" y="0"/>
                </a:lnTo>
                <a:cubicBezTo>
                  <a:pt x="3420799" y="0"/>
                  <a:pt x="3453194" y="32395"/>
                  <a:pt x="3453194" y="72357"/>
                </a:cubicBezTo>
                <a:lnTo>
                  <a:pt x="3453194" y="549906"/>
                </a:lnTo>
                <a:cubicBezTo>
                  <a:pt x="3453194" y="589867"/>
                  <a:pt x="3420799" y="622262"/>
                  <a:pt x="3380837" y="622262"/>
                </a:cubicBezTo>
                <a:lnTo>
                  <a:pt x="72357" y="622262"/>
                </a:lnTo>
                <a:cubicBezTo>
                  <a:pt x="32422" y="622262"/>
                  <a:pt x="0" y="589840"/>
                  <a:pt x="0" y="549906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9520" y="4515584"/>
            <a:ext cx="330124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Server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89520" y="4732653"/>
            <a:ext cx="3292202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Checks reservation table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16973" y="5206812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71819" y="213083"/>
                </a:moveTo>
                <a:cubicBezTo>
                  <a:pt x="77119" y="218383"/>
                  <a:pt x="85725" y="218383"/>
                  <a:pt x="91025" y="213083"/>
                </a:cubicBezTo>
                <a:lnTo>
                  <a:pt x="158858" y="145249"/>
                </a:lnTo>
                <a:cubicBezTo>
                  <a:pt x="164158" y="139950"/>
                  <a:pt x="164158" y="131343"/>
                  <a:pt x="158858" y="126044"/>
                </a:cubicBezTo>
                <a:cubicBezTo>
                  <a:pt x="153559" y="120744"/>
                  <a:pt x="144952" y="120744"/>
                  <a:pt x="139653" y="126044"/>
                </a:cubicBezTo>
                <a:lnTo>
                  <a:pt x="94967" y="170729"/>
                </a:lnTo>
                <a:lnTo>
                  <a:pt x="94967" y="13567"/>
                </a:lnTo>
                <a:cubicBezTo>
                  <a:pt x="94967" y="6063"/>
                  <a:pt x="88905" y="0"/>
                  <a:pt x="81401" y="0"/>
                </a:cubicBezTo>
                <a:cubicBezTo>
                  <a:pt x="73896" y="0"/>
                  <a:pt x="67834" y="6063"/>
                  <a:pt x="67834" y="13567"/>
                </a:cubicBezTo>
                <a:lnTo>
                  <a:pt x="67834" y="170729"/>
                </a:lnTo>
                <a:lnTo>
                  <a:pt x="23148" y="126044"/>
                </a:lnTo>
                <a:cubicBezTo>
                  <a:pt x="17849" y="120744"/>
                  <a:pt x="9242" y="120744"/>
                  <a:pt x="3943" y="126044"/>
                </a:cubicBezTo>
                <a:cubicBezTo>
                  <a:pt x="-1357" y="131343"/>
                  <a:pt x="-1357" y="139950"/>
                  <a:pt x="3943" y="145249"/>
                </a:cubicBezTo>
                <a:lnTo>
                  <a:pt x="71777" y="21308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Shape 41"/>
          <p:cNvSpPr/>
          <p:nvPr/>
        </p:nvSpPr>
        <p:spPr>
          <a:xfrm>
            <a:off x="7558724" y="5662769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253246" y="0"/>
                </a:moveTo>
                <a:lnTo>
                  <a:pt x="253246" y="0"/>
                </a:lnTo>
                <a:cubicBezTo>
                  <a:pt x="393017" y="0"/>
                  <a:pt x="506493" y="113476"/>
                  <a:pt x="506493" y="253246"/>
                </a:cubicBezTo>
                <a:lnTo>
                  <a:pt x="506493" y="253246"/>
                </a:lnTo>
                <a:cubicBezTo>
                  <a:pt x="506493" y="393017"/>
                  <a:pt x="393017" y="506493"/>
                  <a:pt x="253246" y="506493"/>
                </a:cubicBezTo>
                <a:lnTo>
                  <a:pt x="253246" y="506493"/>
                </a:lnTo>
                <a:cubicBezTo>
                  <a:pt x="113476" y="506493"/>
                  <a:pt x="0" y="393017"/>
                  <a:pt x="0" y="253246"/>
                </a:cubicBezTo>
                <a:lnTo>
                  <a:pt x="0" y="253246"/>
                </a:lnTo>
                <a:cubicBezTo>
                  <a:pt x="0" y="113476"/>
                  <a:pt x="113476" y="0"/>
                  <a:pt x="253246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21525" y="5825570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180890"/>
                </a:moveTo>
                <a:cubicBezTo>
                  <a:pt x="140363" y="180890"/>
                  <a:pt x="180890" y="140363"/>
                  <a:pt x="180890" y="90445"/>
                </a:cubicBezTo>
                <a:cubicBezTo>
                  <a:pt x="180890" y="40527"/>
                  <a:pt x="140363" y="0"/>
                  <a:pt x="90445" y="0"/>
                </a:cubicBezTo>
                <a:cubicBezTo>
                  <a:pt x="40527" y="0"/>
                  <a:pt x="0" y="40527"/>
                  <a:pt x="0" y="90445"/>
                </a:cubicBezTo>
                <a:cubicBezTo>
                  <a:pt x="0" y="140363"/>
                  <a:pt x="40527" y="180890"/>
                  <a:pt x="90445" y="180890"/>
                </a:cubicBezTo>
                <a:close/>
                <a:moveTo>
                  <a:pt x="120264" y="75147"/>
                </a:moveTo>
                <a:lnTo>
                  <a:pt x="92000" y="120370"/>
                </a:lnTo>
                <a:cubicBezTo>
                  <a:pt x="90516" y="122737"/>
                  <a:pt x="87972" y="124221"/>
                  <a:pt x="85181" y="124362"/>
                </a:cubicBezTo>
                <a:cubicBezTo>
                  <a:pt x="82390" y="124503"/>
                  <a:pt x="79705" y="123231"/>
                  <a:pt x="78044" y="120970"/>
                </a:cubicBezTo>
                <a:lnTo>
                  <a:pt x="61086" y="98359"/>
                </a:lnTo>
                <a:cubicBezTo>
                  <a:pt x="58259" y="94614"/>
                  <a:pt x="59037" y="89315"/>
                  <a:pt x="62782" y="86488"/>
                </a:cubicBezTo>
                <a:cubicBezTo>
                  <a:pt x="66527" y="83662"/>
                  <a:pt x="71826" y="84439"/>
                  <a:pt x="74653" y="88184"/>
                </a:cubicBezTo>
                <a:lnTo>
                  <a:pt x="84192" y="100903"/>
                </a:lnTo>
                <a:lnTo>
                  <a:pt x="105884" y="66173"/>
                </a:lnTo>
                <a:cubicBezTo>
                  <a:pt x="108357" y="62216"/>
                  <a:pt x="113586" y="60980"/>
                  <a:pt x="117579" y="63488"/>
                </a:cubicBezTo>
                <a:cubicBezTo>
                  <a:pt x="121571" y="65997"/>
                  <a:pt x="122772" y="71190"/>
                  <a:pt x="120264" y="7518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5" name="Shape 43"/>
          <p:cNvSpPr/>
          <p:nvPr/>
        </p:nvSpPr>
        <p:spPr>
          <a:xfrm>
            <a:off x="8177368" y="5604884"/>
            <a:ext cx="3453194" cy="622262"/>
          </a:xfrm>
          <a:custGeom>
            <a:avLst/>
            <a:gdLst/>
            <a:ahLst/>
            <a:cxnLst/>
            <a:rect l="l" t="t" r="r" b="b"/>
            <a:pathLst>
              <a:path w="3453194" h="622262">
                <a:moveTo>
                  <a:pt x="72357" y="0"/>
                </a:moveTo>
                <a:lnTo>
                  <a:pt x="3380837" y="0"/>
                </a:lnTo>
                <a:cubicBezTo>
                  <a:pt x="3420799" y="0"/>
                  <a:pt x="3453194" y="32395"/>
                  <a:pt x="3453194" y="72357"/>
                </a:cubicBezTo>
                <a:lnTo>
                  <a:pt x="3453194" y="549906"/>
                </a:lnTo>
                <a:cubicBezTo>
                  <a:pt x="3453194" y="589867"/>
                  <a:pt x="3420799" y="622262"/>
                  <a:pt x="3380837" y="622262"/>
                </a:cubicBezTo>
                <a:lnTo>
                  <a:pt x="72357" y="622262"/>
                </a:lnTo>
                <a:cubicBezTo>
                  <a:pt x="32422" y="622262"/>
                  <a:pt x="0" y="589840"/>
                  <a:pt x="0" y="549906"/>
                </a:cubicBezTo>
                <a:lnTo>
                  <a:pt x="0" y="72357"/>
                </a:lnTo>
                <a:cubicBezTo>
                  <a:pt x="0" y="32422"/>
                  <a:pt x="32422" y="0"/>
                  <a:pt x="72357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89520" y="5717036"/>
            <a:ext cx="330124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Reserved IP Assigned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89520" y="5934104"/>
            <a:ext cx="3292202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CEFF1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192.168.1.50 (fixed)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DHCP Reservation?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76350"/>
            <a:ext cx="3705225" cy="1771650"/>
          </a:xfrm>
          <a:custGeom>
            <a:avLst/>
            <a:gdLst/>
            <a:ahLst/>
            <a:cxnLst/>
            <a:rect l="l" t="t" r="r" b="b"/>
            <a:pathLst>
              <a:path w="3705225" h="17716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43"/>
                </a:lnTo>
                <a:cubicBezTo>
                  <a:pt x="3705225" y="1720431"/>
                  <a:pt x="3654006" y="1771650"/>
                  <a:pt x="3590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556" y="1552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50495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05000"/>
            <a:ext cx="34766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all IP assignments from a single DHCP server. No need to visit each device for configuration changes—update everything centrally.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721" y="1276350"/>
            <a:ext cx="3705225" cy="1771650"/>
          </a:xfrm>
          <a:custGeom>
            <a:avLst/>
            <a:gdLst/>
            <a:ahLst/>
            <a:cxnLst/>
            <a:rect l="l" t="t" r="r" b="b"/>
            <a:pathLst>
              <a:path w="3705225" h="17716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43"/>
                </a:lnTo>
                <a:cubicBezTo>
                  <a:pt x="3705225" y="1720431"/>
                  <a:pt x="3654006" y="1771650"/>
                  <a:pt x="3590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4172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4121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01277" y="1552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89421" y="15049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Human Error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4121" y="1905000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assignment eliminates typos and duplicate IP conflicts. The server ensures no two devices receive the same address.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2561" y="1276350"/>
            <a:ext cx="3705225" cy="1771650"/>
          </a:xfrm>
          <a:custGeom>
            <a:avLst/>
            <a:gdLst/>
            <a:ahLst/>
            <a:cxnLst/>
            <a:rect l="l" t="t" r="r" b="b"/>
            <a:pathLst>
              <a:path w="3705225" h="17716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657343"/>
                </a:lnTo>
                <a:cubicBezTo>
                  <a:pt x="3705225" y="1720431"/>
                  <a:pt x="3654006" y="1771650"/>
                  <a:pt x="35909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0256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4961" y="144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72833" y="15525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6257" y="10716"/>
                </a:moveTo>
                <a:lnTo>
                  <a:pt x="8037" y="10716"/>
                </a:lnTo>
                <a:cubicBezTo>
                  <a:pt x="3583" y="10716"/>
                  <a:pt x="0" y="14299"/>
                  <a:pt x="0" y="18752"/>
                </a:cubicBezTo>
                <a:lnTo>
                  <a:pt x="0" y="66973"/>
                </a:lnTo>
                <a:cubicBezTo>
                  <a:pt x="0" y="70221"/>
                  <a:pt x="1942" y="73168"/>
                  <a:pt x="4956" y="74407"/>
                </a:cubicBezTo>
                <a:cubicBezTo>
                  <a:pt x="7970" y="75646"/>
                  <a:pt x="11419" y="74942"/>
                  <a:pt x="13729" y="72665"/>
                </a:cubicBezTo>
                <a:lnTo>
                  <a:pt x="27124" y="59271"/>
                </a:lnTo>
                <a:lnTo>
                  <a:pt x="53578" y="85725"/>
                </a:lnTo>
                <a:lnTo>
                  <a:pt x="27124" y="112179"/>
                </a:lnTo>
                <a:lnTo>
                  <a:pt x="13729" y="98785"/>
                </a:lnTo>
                <a:cubicBezTo>
                  <a:pt x="11419" y="96474"/>
                  <a:pt x="7970" y="95804"/>
                  <a:pt x="4956" y="97043"/>
                </a:cubicBezTo>
                <a:cubicBezTo>
                  <a:pt x="1942" y="98282"/>
                  <a:pt x="0" y="101229"/>
                  <a:pt x="0" y="104477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lnTo>
                  <a:pt x="56257" y="160734"/>
                </a:lnTo>
                <a:cubicBezTo>
                  <a:pt x="59505" y="160734"/>
                  <a:pt x="62452" y="158792"/>
                  <a:pt x="63691" y="155778"/>
                </a:cubicBezTo>
                <a:cubicBezTo>
                  <a:pt x="64930" y="152765"/>
                  <a:pt x="64260" y="149316"/>
                  <a:pt x="61950" y="147005"/>
                </a:cubicBezTo>
                <a:lnTo>
                  <a:pt x="48555" y="133610"/>
                </a:lnTo>
                <a:lnTo>
                  <a:pt x="75009" y="107156"/>
                </a:lnTo>
                <a:lnTo>
                  <a:pt x="101464" y="133610"/>
                </a:lnTo>
                <a:lnTo>
                  <a:pt x="88069" y="147005"/>
                </a:lnTo>
                <a:cubicBezTo>
                  <a:pt x="85758" y="149316"/>
                  <a:pt x="85089" y="152765"/>
                  <a:pt x="86328" y="155778"/>
                </a:cubicBezTo>
                <a:cubicBezTo>
                  <a:pt x="87567" y="158792"/>
                  <a:pt x="90514" y="160734"/>
                  <a:pt x="93762" y="160734"/>
                </a:cubicBezTo>
                <a:lnTo>
                  <a:pt x="141982" y="160734"/>
                </a:lnTo>
                <a:cubicBezTo>
                  <a:pt x="146436" y="160734"/>
                  <a:pt x="150019" y="157151"/>
                  <a:pt x="150019" y="152698"/>
                </a:cubicBezTo>
                <a:lnTo>
                  <a:pt x="150019" y="104477"/>
                </a:lnTo>
                <a:cubicBezTo>
                  <a:pt x="150019" y="101229"/>
                  <a:pt x="148077" y="98282"/>
                  <a:pt x="145063" y="97043"/>
                </a:cubicBezTo>
                <a:cubicBezTo>
                  <a:pt x="142049" y="95804"/>
                  <a:pt x="138600" y="96474"/>
                  <a:pt x="136289" y="98785"/>
                </a:cubicBezTo>
                <a:lnTo>
                  <a:pt x="122895" y="112179"/>
                </a:lnTo>
                <a:lnTo>
                  <a:pt x="96441" y="85725"/>
                </a:lnTo>
                <a:lnTo>
                  <a:pt x="122895" y="59271"/>
                </a:lnTo>
                <a:lnTo>
                  <a:pt x="136289" y="72665"/>
                </a:lnTo>
                <a:cubicBezTo>
                  <a:pt x="138600" y="74976"/>
                  <a:pt x="142049" y="75646"/>
                  <a:pt x="145063" y="74407"/>
                </a:cubicBezTo>
                <a:cubicBezTo>
                  <a:pt x="148077" y="73168"/>
                  <a:pt x="150019" y="70221"/>
                  <a:pt x="150019" y="66973"/>
                </a:cubicBezTo>
                <a:lnTo>
                  <a:pt x="150019" y="18752"/>
                </a:lnTo>
                <a:cubicBezTo>
                  <a:pt x="150019" y="14299"/>
                  <a:pt x="146436" y="10716"/>
                  <a:pt x="141982" y="10716"/>
                </a:cubicBezTo>
                <a:lnTo>
                  <a:pt x="93762" y="10716"/>
                </a:lnTo>
                <a:cubicBezTo>
                  <a:pt x="90514" y="10716"/>
                  <a:pt x="87567" y="12658"/>
                  <a:pt x="86328" y="15672"/>
                </a:cubicBezTo>
                <a:cubicBezTo>
                  <a:pt x="85089" y="18685"/>
                  <a:pt x="85792" y="22134"/>
                  <a:pt x="88069" y="24445"/>
                </a:cubicBezTo>
                <a:lnTo>
                  <a:pt x="101464" y="37840"/>
                </a:lnTo>
                <a:lnTo>
                  <a:pt x="75009" y="64294"/>
                </a:lnTo>
                <a:lnTo>
                  <a:pt x="48555" y="37840"/>
                </a:lnTo>
                <a:lnTo>
                  <a:pt x="61950" y="24445"/>
                </a:lnTo>
                <a:cubicBezTo>
                  <a:pt x="64260" y="22134"/>
                  <a:pt x="64930" y="18685"/>
                  <a:pt x="63691" y="15672"/>
                </a:cubicBezTo>
                <a:cubicBezTo>
                  <a:pt x="62452" y="12658"/>
                  <a:pt x="59505" y="10716"/>
                  <a:pt x="56257" y="1071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8750261" y="15049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Simplified Scalability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4961" y="1905000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Adding, removing, or relocating devices becomes effortless. No manual IP tracking spreadsheets needed as your network grows.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3219450"/>
            <a:ext cx="3705225" cy="1524000"/>
          </a:xfrm>
          <a:custGeom>
            <a:avLst/>
            <a:gdLst/>
            <a:ahLst/>
            <a:cxnLst/>
            <a:rect l="l" t="t" r="r" b="b"/>
            <a:pathLst>
              <a:path w="3705225" h="1524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409700"/>
                </a:lnTo>
                <a:cubicBezTo>
                  <a:pt x="3705225" y="1472784"/>
                  <a:pt x="3654009" y="1524000"/>
                  <a:pt x="359092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" y="3219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1272" y="3495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" y="34480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 Integration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400" y="3848100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Seamlessly integrates with DNS servers for dynamic name resolution. Devices are reachable by hostname regardless of their reserved IP.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721" y="3219450"/>
            <a:ext cx="3705225" cy="1524000"/>
          </a:xfrm>
          <a:custGeom>
            <a:avLst/>
            <a:gdLst/>
            <a:ahLst/>
            <a:cxnLst/>
            <a:rect l="l" t="t" r="r" b="b"/>
            <a:pathLst>
              <a:path w="3705225" h="1524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409700"/>
                </a:lnTo>
                <a:cubicBezTo>
                  <a:pt x="3705225" y="1472784"/>
                  <a:pt x="3654009" y="1524000"/>
                  <a:pt x="359092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41721" y="3219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4121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22708" y="34956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4889421" y="344805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Consistency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94121" y="3848100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uniform network settings across all devices. Every client receives correct gateway, DNS, and subnet mask from the server.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561" y="3219450"/>
            <a:ext cx="3705225" cy="1524000"/>
          </a:xfrm>
          <a:custGeom>
            <a:avLst/>
            <a:gdLst/>
            <a:ahLst/>
            <a:cxnLst/>
            <a:rect l="l" t="t" r="r" b="b"/>
            <a:pathLst>
              <a:path w="3705225" h="15240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409700"/>
                </a:lnTo>
                <a:cubicBezTo>
                  <a:pt x="3705225" y="1472784"/>
                  <a:pt x="3654009" y="1524000"/>
                  <a:pt x="3590925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102561" y="3219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6" name="Shape 34"/>
          <p:cNvSpPr/>
          <p:nvPr/>
        </p:nvSpPr>
        <p:spPr>
          <a:xfrm>
            <a:off x="8254961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51401" y="34956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8" name="Text 36"/>
          <p:cNvSpPr/>
          <p:nvPr/>
        </p:nvSpPr>
        <p:spPr>
          <a:xfrm>
            <a:off x="8750261" y="344805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Troubleshooting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54961" y="3848100"/>
            <a:ext cx="3476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 logs and reservation tables make it simple to identify IP-related issues. No more hunting for misconfigured devices.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810" y="4899660"/>
            <a:ext cx="11418570" cy="1150620"/>
          </a:xfrm>
          <a:custGeom>
            <a:avLst/>
            <a:gdLst/>
            <a:ahLst/>
            <a:cxnLst/>
            <a:rect l="l" t="t" r="r" b="b"/>
            <a:pathLst>
              <a:path w="11418570" h="11506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1036317"/>
                </a:lnTo>
                <a:cubicBezTo>
                  <a:pt x="11418570" y="1099445"/>
                  <a:pt x="11367395" y="1150620"/>
                  <a:pt x="113042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1020" y="5055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98183" y="51892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1150620" y="505587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50620" y="5398770"/>
            <a:ext cx="10572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reservations combine 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reliability of static IPs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043"/>
                </a:solidFill>
                <a:highlight>
                  <a:srgbClr val="FF704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convenience of DHCP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You get predictable addressing without the administrative overhead of manual configuration on every device.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82" y="345382"/>
            <a:ext cx="1157031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spc="54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382" y="621688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 vs Static IP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836" y="1246831"/>
            <a:ext cx="11490874" cy="3443463"/>
          </a:xfrm>
          <a:custGeom>
            <a:avLst/>
            <a:gdLst/>
            <a:ahLst/>
            <a:cxnLst/>
            <a:rect l="l" t="t" r="r" b="b"/>
            <a:pathLst>
              <a:path w="11490874" h="3443463">
                <a:moveTo>
                  <a:pt x="103614" y="0"/>
                </a:moveTo>
                <a:lnTo>
                  <a:pt x="11387260" y="0"/>
                </a:lnTo>
                <a:cubicBezTo>
                  <a:pt x="11444484" y="0"/>
                  <a:pt x="11490874" y="46389"/>
                  <a:pt x="11490874" y="103614"/>
                </a:cubicBezTo>
                <a:lnTo>
                  <a:pt x="11490874" y="3339849"/>
                </a:lnTo>
                <a:cubicBezTo>
                  <a:pt x="11490874" y="3397073"/>
                  <a:pt x="11444484" y="3443463"/>
                  <a:pt x="11387260" y="3443463"/>
                </a:cubicBezTo>
                <a:lnTo>
                  <a:pt x="103614" y="3443463"/>
                </a:lnTo>
                <a:cubicBezTo>
                  <a:pt x="46389" y="3443463"/>
                  <a:pt x="0" y="3397073"/>
                  <a:pt x="0" y="3339849"/>
                </a:cubicBezTo>
                <a:lnTo>
                  <a:pt x="0" y="103614"/>
                </a:lnTo>
                <a:cubicBezTo>
                  <a:pt x="0" y="46428"/>
                  <a:pt x="46428" y="0"/>
                  <a:pt x="103614" y="0"/>
                </a:cubicBezTo>
                <a:close/>
              </a:path>
            </a:pathLst>
          </a:custGeom>
          <a:solidFill>
            <a:srgbClr val="37474F">
              <a:alpha val="2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290" y="1250285"/>
          <a:ext cx="11483966" cy="3436555"/>
        </p:xfrm>
        <a:graphic>
          <a:graphicData uri="http://schemas.openxmlformats.org/drawingml/2006/table">
            <a:tbl>
              <a:tblPr/>
              <a:tblGrid>
                <a:gridCol w="2434946"/>
                <a:gridCol w="3289768"/>
                <a:gridCol w="3039365"/>
                <a:gridCol w="2719887"/>
              </a:tblGrid>
              <a:tr h="490936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DB6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Pure DHCP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4DB6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DHCP Reservation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 IP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2000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IP Changes Over 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Configured 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DHCP server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DHCP server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Each device individually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Central Management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Works If DHCP Down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(new devices)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(new devices)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Admin Effort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Lowest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Highest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9093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Best For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Laptops, phones, guest devices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Printers, cameras, NAS, VoIP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DB6A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CEF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Servers, routers, firewalls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8153" marR="138153" marT="138153" marB="13815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2652" y="4897523"/>
            <a:ext cx="3704227" cy="1614663"/>
          </a:xfrm>
          <a:custGeom>
            <a:avLst/>
            <a:gdLst/>
            <a:ahLst/>
            <a:cxnLst/>
            <a:rect l="l" t="t" r="r" b="b"/>
            <a:pathLst>
              <a:path w="3704227" h="1614663">
                <a:moveTo>
                  <a:pt x="34538" y="0"/>
                </a:moveTo>
                <a:lnTo>
                  <a:pt x="3600614" y="0"/>
                </a:lnTo>
                <a:cubicBezTo>
                  <a:pt x="3657838" y="0"/>
                  <a:pt x="3704227" y="46389"/>
                  <a:pt x="3704227" y="103613"/>
                </a:cubicBezTo>
                <a:lnTo>
                  <a:pt x="3704227" y="1511050"/>
                </a:lnTo>
                <a:cubicBezTo>
                  <a:pt x="3704227" y="1568274"/>
                  <a:pt x="3657838" y="1614663"/>
                  <a:pt x="3600614" y="1614663"/>
                </a:cubicBezTo>
                <a:lnTo>
                  <a:pt x="34538" y="1614663"/>
                </a:lnTo>
                <a:cubicBezTo>
                  <a:pt x="15463" y="1614663"/>
                  <a:pt x="0" y="1599200"/>
                  <a:pt x="0" y="158012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62652" y="4897523"/>
            <a:ext cx="34538" cy="1614663"/>
          </a:xfrm>
          <a:custGeom>
            <a:avLst/>
            <a:gdLst/>
            <a:ahLst/>
            <a:cxnLst/>
            <a:rect l="l" t="t" r="r" b="b"/>
            <a:pathLst>
              <a:path w="34538" h="1614663">
                <a:moveTo>
                  <a:pt x="34538" y="0"/>
                </a:moveTo>
                <a:lnTo>
                  <a:pt x="34538" y="0"/>
                </a:lnTo>
                <a:lnTo>
                  <a:pt x="34538" y="1614663"/>
                </a:lnTo>
                <a:lnTo>
                  <a:pt x="34538" y="1614663"/>
                </a:lnTo>
                <a:cubicBezTo>
                  <a:pt x="15463" y="1614663"/>
                  <a:pt x="0" y="1599200"/>
                  <a:pt x="0" y="158012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8" name="Shape 5"/>
          <p:cNvSpPr/>
          <p:nvPr/>
        </p:nvSpPr>
        <p:spPr>
          <a:xfrm>
            <a:off x="574198" y="5104752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136197" y="11603"/>
                </a:moveTo>
                <a:cubicBezTo>
                  <a:pt x="140244" y="9916"/>
                  <a:pt x="144865" y="10861"/>
                  <a:pt x="147968" y="13930"/>
                </a:cubicBezTo>
                <a:lnTo>
                  <a:pt x="169554" y="35516"/>
                </a:lnTo>
                <a:cubicBezTo>
                  <a:pt x="171578" y="37540"/>
                  <a:pt x="172725" y="40272"/>
                  <a:pt x="172725" y="43139"/>
                </a:cubicBezTo>
                <a:cubicBezTo>
                  <a:pt x="172725" y="46006"/>
                  <a:pt x="171578" y="48738"/>
                  <a:pt x="169554" y="50762"/>
                </a:cubicBezTo>
                <a:lnTo>
                  <a:pt x="147968" y="72348"/>
                </a:lnTo>
                <a:cubicBezTo>
                  <a:pt x="144865" y="75451"/>
                  <a:pt x="140244" y="76362"/>
                  <a:pt x="136197" y="74675"/>
                </a:cubicBezTo>
                <a:cubicBezTo>
                  <a:pt x="132149" y="72989"/>
                  <a:pt x="129518" y="69110"/>
                  <a:pt x="129518" y="64759"/>
                </a:cubicBezTo>
                <a:lnTo>
                  <a:pt x="129518" y="53966"/>
                </a:lnTo>
                <a:lnTo>
                  <a:pt x="118725" y="53966"/>
                </a:lnTo>
                <a:cubicBezTo>
                  <a:pt x="115319" y="53966"/>
                  <a:pt x="112114" y="55551"/>
                  <a:pt x="110091" y="58283"/>
                </a:cubicBezTo>
                <a:lnTo>
                  <a:pt x="99163" y="72854"/>
                </a:lnTo>
                <a:lnTo>
                  <a:pt x="85671" y="54877"/>
                </a:lnTo>
                <a:lnTo>
                  <a:pt x="92822" y="45331"/>
                </a:lnTo>
                <a:cubicBezTo>
                  <a:pt x="98926" y="37169"/>
                  <a:pt x="108539" y="32380"/>
                  <a:pt x="118725" y="32380"/>
                </a:cubicBezTo>
                <a:lnTo>
                  <a:pt x="129518" y="32380"/>
                </a:lnTo>
                <a:lnTo>
                  <a:pt x="129518" y="21586"/>
                </a:lnTo>
                <a:cubicBezTo>
                  <a:pt x="129518" y="17235"/>
                  <a:pt x="132149" y="13289"/>
                  <a:pt x="136197" y="11603"/>
                </a:cubicBezTo>
                <a:close/>
                <a:moveTo>
                  <a:pt x="51942" y="99837"/>
                </a:moveTo>
                <a:lnTo>
                  <a:pt x="65434" y="117815"/>
                </a:lnTo>
                <a:lnTo>
                  <a:pt x="58283" y="127360"/>
                </a:lnTo>
                <a:cubicBezTo>
                  <a:pt x="52178" y="135522"/>
                  <a:pt x="42566" y="140312"/>
                  <a:pt x="32380" y="140312"/>
                </a:cubicBezTo>
                <a:lnTo>
                  <a:pt x="10793" y="140312"/>
                </a:lnTo>
                <a:cubicBezTo>
                  <a:pt x="4823" y="140312"/>
                  <a:pt x="0" y="135488"/>
                  <a:pt x="0" y="129518"/>
                </a:cubicBezTo>
                <a:cubicBezTo>
                  <a:pt x="0" y="123548"/>
                  <a:pt x="4823" y="118725"/>
                  <a:pt x="10793" y="118725"/>
                </a:cubicBezTo>
                <a:lnTo>
                  <a:pt x="32380" y="118725"/>
                </a:lnTo>
                <a:cubicBezTo>
                  <a:pt x="35786" y="118725"/>
                  <a:pt x="38990" y="117140"/>
                  <a:pt x="41014" y="114408"/>
                </a:cubicBezTo>
                <a:lnTo>
                  <a:pt x="51942" y="99837"/>
                </a:lnTo>
                <a:close/>
                <a:moveTo>
                  <a:pt x="147934" y="158728"/>
                </a:moveTo>
                <a:cubicBezTo>
                  <a:pt x="144831" y="161831"/>
                  <a:pt x="140210" y="162741"/>
                  <a:pt x="136163" y="161055"/>
                </a:cubicBezTo>
                <a:cubicBezTo>
                  <a:pt x="132116" y="159368"/>
                  <a:pt x="129518" y="155456"/>
                  <a:pt x="129518" y="151105"/>
                </a:cubicBezTo>
                <a:lnTo>
                  <a:pt x="129518" y="140312"/>
                </a:lnTo>
                <a:lnTo>
                  <a:pt x="118725" y="140312"/>
                </a:lnTo>
                <a:cubicBezTo>
                  <a:pt x="108539" y="140312"/>
                  <a:pt x="98926" y="135522"/>
                  <a:pt x="92822" y="127360"/>
                </a:cubicBezTo>
                <a:lnTo>
                  <a:pt x="41014" y="58283"/>
                </a:lnTo>
                <a:cubicBezTo>
                  <a:pt x="38990" y="55551"/>
                  <a:pt x="35786" y="53966"/>
                  <a:pt x="32380" y="53966"/>
                </a:cubicBezTo>
                <a:lnTo>
                  <a:pt x="10793" y="53966"/>
                </a:lnTo>
                <a:cubicBezTo>
                  <a:pt x="4823" y="53966"/>
                  <a:pt x="0" y="49143"/>
                  <a:pt x="0" y="43173"/>
                </a:cubicBezTo>
                <a:cubicBezTo>
                  <a:pt x="0" y="37203"/>
                  <a:pt x="4823" y="32380"/>
                  <a:pt x="10793" y="32380"/>
                </a:cubicBezTo>
                <a:lnTo>
                  <a:pt x="32380" y="32380"/>
                </a:lnTo>
                <a:cubicBezTo>
                  <a:pt x="42566" y="32380"/>
                  <a:pt x="52178" y="37169"/>
                  <a:pt x="58283" y="45331"/>
                </a:cubicBezTo>
                <a:lnTo>
                  <a:pt x="110091" y="114408"/>
                </a:lnTo>
                <a:cubicBezTo>
                  <a:pt x="112114" y="117140"/>
                  <a:pt x="115319" y="118725"/>
                  <a:pt x="118725" y="118725"/>
                </a:cubicBezTo>
                <a:lnTo>
                  <a:pt x="129518" y="118725"/>
                </a:lnTo>
                <a:lnTo>
                  <a:pt x="129518" y="107932"/>
                </a:lnTo>
                <a:cubicBezTo>
                  <a:pt x="129518" y="103581"/>
                  <a:pt x="132149" y="99635"/>
                  <a:pt x="136197" y="97948"/>
                </a:cubicBezTo>
                <a:cubicBezTo>
                  <a:pt x="140244" y="96262"/>
                  <a:pt x="144865" y="97206"/>
                  <a:pt x="147968" y="100276"/>
                </a:cubicBezTo>
                <a:lnTo>
                  <a:pt x="169554" y="121862"/>
                </a:lnTo>
                <a:cubicBezTo>
                  <a:pt x="171578" y="123886"/>
                  <a:pt x="172725" y="126618"/>
                  <a:pt x="172725" y="129485"/>
                </a:cubicBezTo>
                <a:cubicBezTo>
                  <a:pt x="172725" y="132352"/>
                  <a:pt x="171578" y="135084"/>
                  <a:pt x="169554" y="137107"/>
                </a:cubicBezTo>
                <a:lnTo>
                  <a:pt x="147968" y="158694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9" name="Text 6"/>
          <p:cNvSpPr/>
          <p:nvPr/>
        </p:nvSpPr>
        <p:spPr>
          <a:xfrm>
            <a:off x="768476" y="5070214"/>
            <a:ext cx="321205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DHCP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2612" y="5415596"/>
            <a:ext cx="3410652" cy="67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 devices that frequently join and leave the network. IP addresses are dynamically assigned from the pool and may change over time.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2629" y="4904430"/>
            <a:ext cx="3693865" cy="1602575"/>
          </a:xfrm>
          <a:custGeom>
            <a:avLst/>
            <a:gdLst/>
            <a:ahLst/>
            <a:cxnLst/>
            <a:rect l="l" t="t" r="r" b="b"/>
            <a:pathLst>
              <a:path w="3693865" h="1602575">
                <a:moveTo>
                  <a:pt x="103622" y="0"/>
                </a:moveTo>
                <a:lnTo>
                  <a:pt x="3590243" y="0"/>
                </a:lnTo>
                <a:cubicBezTo>
                  <a:pt x="3647472" y="0"/>
                  <a:pt x="3693865" y="46393"/>
                  <a:pt x="3693865" y="103622"/>
                </a:cubicBezTo>
                <a:lnTo>
                  <a:pt x="3693865" y="1498952"/>
                </a:lnTo>
                <a:cubicBezTo>
                  <a:pt x="3693865" y="1556181"/>
                  <a:pt x="3647472" y="1602575"/>
                  <a:pt x="3590243" y="1602575"/>
                </a:cubicBezTo>
                <a:lnTo>
                  <a:pt x="103622" y="1602575"/>
                </a:lnTo>
                <a:cubicBezTo>
                  <a:pt x="46393" y="1602575"/>
                  <a:pt x="0" y="1556181"/>
                  <a:pt x="0" y="1498952"/>
                </a:cubicBezTo>
                <a:lnTo>
                  <a:pt x="0" y="103622"/>
                </a:lnTo>
                <a:cubicBezTo>
                  <a:pt x="0" y="46432"/>
                  <a:pt x="46432" y="0"/>
                  <a:pt x="10362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53383" y="5118568"/>
            <a:ext cx="194278" cy="172691"/>
          </a:xfrm>
          <a:custGeom>
            <a:avLst/>
            <a:gdLst/>
            <a:ahLst/>
            <a:cxnLst/>
            <a:rect l="l" t="t" r="r" b="b"/>
            <a:pathLst>
              <a:path w="194278" h="172691">
                <a:moveTo>
                  <a:pt x="104390" y="-6375"/>
                </a:moveTo>
                <a:cubicBezTo>
                  <a:pt x="103008" y="-9073"/>
                  <a:pt x="100208" y="-10793"/>
                  <a:pt x="97173" y="-10793"/>
                </a:cubicBezTo>
                <a:cubicBezTo>
                  <a:pt x="94137" y="-10793"/>
                  <a:pt x="91337" y="-9073"/>
                  <a:pt x="89955" y="-6375"/>
                </a:cubicBezTo>
                <a:lnTo>
                  <a:pt x="65130" y="42262"/>
                </a:lnTo>
                <a:lnTo>
                  <a:pt x="11198" y="50829"/>
                </a:lnTo>
                <a:cubicBezTo>
                  <a:pt x="8196" y="51301"/>
                  <a:pt x="5700" y="53426"/>
                  <a:pt x="4756" y="56327"/>
                </a:cubicBezTo>
                <a:cubicBezTo>
                  <a:pt x="3811" y="59228"/>
                  <a:pt x="4587" y="62398"/>
                  <a:pt x="6712" y="64557"/>
                </a:cubicBezTo>
                <a:lnTo>
                  <a:pt x="45298" y="103176"/>
                </a:lnTo>
                <a:lnTo>
                  <a:pt x="36798" y="157109"/>
                </a:lnTo>
                <a:cubicBezTo>
                  <a:pt x="36326" y="160110"/>
                  <a:pt x="37574" y="163146"/>
                  <a:pt x="40036" y="164934"/>
                </a:cubicBezTo>
                <a:cubicBezTo>
                  <a:pt x="42498" y="166721"/>
                  <a:pt x="45736" y="166991"/>
                  <a:pt x="48468" y="165608"/>
                </a:cubicBezTo>
                <a:lnTo>
                  <a:pt x="97173" y="140851"/>
                </a:lnTo>
                <a:lnTo>
                  <a:pt x="145843" y="165608"/>
                </a:lnTo>
                <a:cubicBezTo>
                  <a:pt x="148541" y="166991"/>
                  <a:pt x="151813" y="166721"/>
                  <a:pt x="154275" y="164934"/>
                </a:cubicBezTo>
                <a:cubicBezTo>
                  <a:pt x="156738" y="163146"/>
                  <a:pt x="157985" y="160144"/>
                  <a:pt x="157513" y="157109"/>
                </a:cubicBezTo>
                <a:lnTo>
                  <a:pt x="148980" y="103176"/>
                </a:lnTo>
                <a:lnTo>
                  <a:pt x="187566" y="64557"/>
                </a:lnTo>
                <a:cubicBezTo>
                  <a:pt x="189724" y="62398"/>
                  <a:pt x="190466" y="59228"/>
                  <a:pt x="189522" y="56327"/>
                </a:cubicBezTo>
                <a:cubicBezTo>
                  <a:pt x="188577" y="53426"/>
                  <a:pt x="186115" y="51301"/>
                  <a:pt x="183080" y="50829"/>
                </a:cubicBezTo>
                <a:lnTo>
                  <a:pt x="129181" y="42262"/>
                </a:lnTo>
                <a:lnTo>
                  <a:pt x="104390" y="-637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4658454" y="5084030"/>
            <a:ext cx="3194788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42590" y="5429412"/>
            <a:ext cx="3393382" cy="89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sweet spot:</a:t>
            </a:r>
            <a:pPr>
              <a:lnSpc>
                <a:spcPct val="140000"/>
              </a:lnSpc>
            </a:pPr>
            <a:r>
              <a:rPr lang="en-US" sz="1088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Combines the convenience of DHCP with the stability of static IPs. Perfect for devices that need consistent addressing but don't require absolute DHCP independence.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42607" y="4897523"/>
            <a:ext cx="3704227" cy="1614663"/>
          </a:xfrm>
          <a:custGeom>
            <a:avLst/>
            <a:gdLst/>
            <a:ahLst/>
            <a:cxnLst/>
            <a:rect l="l" t="t" r="r" b="b"/>
            <a:pathLst>
              <a:path w="3704227" h="1614663">
                <a:moveTo>
                  <a:pt x="34538" y="0"/>
                </a:moveTo>
                <a:lnTo>
                  <a:pt x="3600614" y="0"/>
                </a:lnTo>
                <a:cubicBezTo>
                  <a:pt x="3657838" y="0"/>
                  <a:pt x="3704227" y="46389"/>
                  <a:pt x="3704227" y="103613"/>
                </a:cubicBezTo>
                <a:lnTo>
                  <a:pt x="3704227" y="1511050"/>
                </a:lnTo>
                <a:cubicBezTo>
                  <a:pt x="3704227" y="1568274"/>
                  <a:pt x="3657838" y="1614663"/>
                  <a:pt x="3600614" y="1614663"/>
                </a:cubicBezTo>
                <a:lnTo>
                  <a:pt x="34538" y="1614663"/>
                </a:lnTo>
                <a:cubicBezTo>
                  <a:pt x="15463" y="1614663"/>
                  <a:pt x="0" y="1599200"/>
                  <a:pt x="0" y="158012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142607" y="4897523"/>
            <a:ext cx="34538" cy="1614663"/>
          </a:xfrm>
          <a:custGeom>
            <a:avLst/>
            <a:gdLst/>
            <a:ahLst/>
            <a:cxnLst/>
            <a:rect l="l" t="t" r="r" b="b"/>
            <a:pathLst>
              <a:path w="34538" h="1614663">
                <a:moveTo>
                  <a:pt x="34538" y="0"/>
                </a:moveTo>
                <a:lnTo>
                  <a:pt x="34538" y="0"/>
                </a:lnTo>
                <a:lnTo>
                  <a:pt x="34538" y="1614663"/>
                </a:lnTo>
                <a:lnTo>
                  <a:pt x="34538" y="1614663"/>
                </a:lnTo>
                <a:cubicBezTo>
                  <a:pt x="15463" y="1614663"/>
                  <a:pt x="0" y="1599200"/>
                  <a:pt x="0" y="1580125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Shape 14"/>
          <p:cNvSpPr/>
          <p:nvPr/>
        </p:nvSpPr>
        <p:spPr>
          <a:xfrm>
            <a:off x="8375740" y="5104752"/>
            <a:ext cx="129518" cy="172691"/>
          </a:xfrm>
          <a:custGeom>
            <a:avLst/>
            <a:gdLst/>
            <a:ahLst/>
            <a:cxnLst/>
            <a:rect l="l" t="t" r="r" b="b"/>
            <a:pathLst>
              <a:path w="129518" h="172691">
                <a:moveTo>
                  <a:pt x="43173" y="32380"/>
                </a:moveTo>
                <a:lnTo>
                  <a:pt x="43173" y="53966"/>
                </a:lnTo>
                <a:lnTo>
                  <a:pt x="86346" y="53966"/>
                </a:lnTo>
                <a:lnTo>
                  <a:pt x="86346" y="32380"/>
                </a:lnTo>
                <a:cubicBezTo>
                  <a:pt x="86346" y="20473"/>
                  <a:pt x="76665" y="10793"/>
                  <a:pt x="64759" y="10793"/>
                </a:cubicBezTo>
                <a:cubicBezTo>
                  <a:pt x="52853" y="10793"/>
                  <a:pt x="43173" y="20473"/>
                  <a:pt x="43173" y="32380"/>
                </a:cubicBezTo>
                <a:close/>
                <a:moveTo>
                  <a:pt x="21586" y="53966"/>
                </a:moveTo>
                <a:lnTo>
                  <a:pt x="21586" y="32380"/>
                </a:lnTo>
                <a:cubicBezTo>
                  <a:pt x="21586" y="8533"/>
                  <a:pt x="40913" y="-10793"/>
                  <a:pt x="64759" y="-10793"/>
                </a:cubicBezTo>
                <a:cubicBezTo>
                  <a:pt x="88605" y="-10793"/>
                  <a:pt x="107932" y="8533"/>
                  <a:pt x="107932" y="32380"/>
                </a:cubicBezTo>
                <a:lnTo>
                  <a:pt x="107932" y="53966"/>
                </a:lnTo>
                <a:cubicBezTo>
                  <a:pt x="119838" y="53966"/>
                  <a:pt x="129518" y="63646"/>
                  <a:pt x="129518" y="75552"/>
                </a:cubicBezTo>
                <a:lnTo>
                  <a:pt x="129518" y="151105"/>
                </a:lnTo>
                <a:cubicBezTo>
                  <a:pt x="129518" y="163011"/>
                  <a:pt x="119838" y="172691"/>
                  <a:pt x="107932" y="172691"/>
                </a:cubicBezTo>
                <a:lnTo>
                  <a:pt x="21586" y="172691"/>
                </a:lnTo>
                <a:cubicBezTo>
                  <a:pt x="9680" y="172691"/>
                  <a:pt x="0" y="163011"/>
                  <a:pt x="0" y="151105"/>
                </a:cubicBezTo>
                <a:lnTo>
                  <a:pt x="0" y="75552"/>
                </a:lnTo>
                <a:cubicBezTo>
                  <a:pt x="0" y="63646"/>
                  <a:pt x="9680" y="53966"/>
                  <a:pt x="21586" y="5396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5"/>
          <p:cNvSpPr/>
          <p:nvPr/>
        </p:nvSpPr>
        <p:spPr>
          <a:xfrm>
            <a:off x="8548431" y="5070214"/>
            <a:ext cx="321205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2567" y="5415596"/>
            <a:ext cx="3410652" cy="67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for critical infrastructure that must remain accessible even if DHCP services fail. Requires manual configuration on each device.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9540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0678"/>
                  <a:pt x="34491" y="0"/>
                  <a:pt x="47625" y="0"/>
                </a:cubicBezTo>
                <a:lnTo>
                  <a:pt x="127062" y="0"/>
                </a:lnTo>
                <a:cubicBezTo>
                  <a:pt x="133387" y="0"/>
                  <a:pt x="139452" y="2493"/>
                  <a:pt x="143917" y="6958"/>
                </a:cubicBezTo>
                <a:lnTo>
                  <a:pt x="159730" y="22771"/>
                </a:lnTo>
                <a:cubicBezTo>
                  <a:pt x="164195" y="27236"/>
                  <a:pt x="166688" y="33300"/>
                  <a:pt x="166688" y="39625"/>
                </a:cubicBezTo>
                <a:lnTo>
                  <a:pt x="166688" y="53578"/>
                </a:lnTo>
                <a:lnTo>
                  <a:pt x="23812" y="53578"/>
                </a:lnTo>
                <a:lnTo>
                  <a:pt x="23812" y="23812"/>
                </a:lnTo>
                <a:close/>
                <a:moveTo>
                  <a:pt x="0" y="95250"/>
                </a:moveTo>
                <a:cubicBezTo>
                  <a:pt x="0" y="82116"/>
                  <a:pt x="10678" y="71438"/>
                  <a:pt x="23812" y="71438"/>
                </a:cubicBezTo>
                <a:lnTo>
                  <a:pt x="166688" y="71438"/>
                </a:lnTo>
                <a:cubicBezTo>
                  <a:pt x="179822" y="71438"/>
                  <a:pt x="190500" y="82116"/>
                  <a:pt x="190500" y="95250"/>
                </a:cubicBezTo>
                <a:lnTo>
                  <a:pt x="190500" y="130969"/>
                </a:lnTo>
                <a:cubicBezTo>
                  <a:pt x="190500" y="137554"/>
                  <a:pt x="185179" y="142875"/>
                  <a:pt x="178594" y="142875"/>
                </a:cubicBezTo>
                <a:lnTo>
                  <a:pt x="166688" y="142875"/>
                </a:lnTo>
                <a:lnTo>
                  <a:pt x="166688" y="166688"/>
                </a:lnTo>
                <a:cubicBezTo>
                  <a:pt x="166688" y="179822"/>
                  <a:pt x="156009" y="190500"/>
                  <a:pt x="142875" y="190500"/>
                </a:cubicBezTo>
                <a:lnTo>
                  <a:pt x="47625" y="190500"/>
                </a:lnTo>
                <a:cubicBezTo>
                  <a:pt x="34491" y="190500"/>
                  <a:pt x="23812" y="179822"/>
                  <a:pt x="23812" y="166688"/>
                </a:cubicBezTo>
                <a:lnTo>
                  <a:pt x="23812" y="142875"/>
                </a:lnTo>
                <a:lnTo>
                  <a:pt x="11906" y="142875"/>
                </a:lnTo>
                <a:cubicBezTo>
                  <a:pt x="5321" y="142875"/>
                  <a:pt x="0" y="137554"/>
                  <a:pt x="0" y="130969"/>
                </a:cubicBezTo>
                <a:lnTo>
                  <a:pt x="0" y="95250"/>
                </a:lnTo>
                <a:close/>
                <a:moveTo>
                  <a:pt x="47625" y="154781"/>
                </a:moveTo>
                <a:lnTo>
                  <a:pt x="47625" y="166688"/>
                </a:lnTo>
                <a:lnTo>
                  <a:pt x="142875" y="166688"/>
                </a:lnTo>
                <a:lnTo>
                  <a:pt x="142875" y="130969"/>
                </a:lnTo>
                <a:lnTo>
                  <a:pt x="47625" y="130969"/>
                </a:lnTo>
                <a:lnTo>
                  <a:pt x="47625" y="154781"/>
                </a:lnTo>
                <a:close/>
                <a:moveTo>
                  <a:pt x="169664" y="101203"/>
                </a:moveTo>
                <a:cubicBezTo>
                  <a:pt x="169664" y="96275"/>
                  <a:pt x="165663" y="92273"/>
                  <a:pt x="160734" y="92273"/>
                </a:cubicBezTo>
                <a:cubicBezTo>
                  <a:pt x="155806" y="92273"/>
                  <a:pt x="151805" y="96275"/>
                  <a:pt x="151805" y="101203"/>
                </a:cubicBezTo>
                <a:cubicBezTo>
                  <a:pt x="151805" y="106132"/>
                  <a:pt x="155806" y="110133"/>
                  <a:pt x="160734" y="110133"/>
                </a:cubicBezTo>
                <a:cubicBezTo>
                  <a:pt x="165663" y="110133"/>
                  <a:pt x="169664" y="106132"/>
                  <a:pt x="169664" y="10120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5430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Printers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8120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Everyone needs to find printers at the same address. Reservations ensure consistent connectivity for all users.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828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9"/>
          <p:cNvSpPr/>
          <p:nvPr/>
        </p:nvSpPr>
        <p:spPr>
          <a:xfrm>
            <a:off x="814388" y="280035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driver reconfiguration needed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0771" y="129540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60771" y="12954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2221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65571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606" y="9302"/>
                </a:moveTo>
                <a:cubicBezTo>
                  <a:pt x="56666" y="2270"/>
                  <a:pt x="49002" y="-1451"/>
                  <a:pt x="41709" y="521"/>
                </a:cubicBezTo>
                <a:lnTo>
                  <a:pt x="39663" y="1079"/>
                </a:lnTo>
                <a:cubicBezTo>
                  <a:pt x="15627" y="7627"/>
                  <a:pt x="-4911" y="30919"/>
                  <a:pt x="1079" y="59271"/>
                </a:cubicBezTo>
                <a:cubicBezTo>
                  <a:pt x="14883" y="124383"/>
                  <a:pt x="66117" y="175617"/>
                  <a:pt x="131229" y="189421"/>
                </a:cubicBezTo>
                <a:cubicBezTo>
                  <a:pt x="159618" y="195449"/>
                  <a:pt x="182873" y="174873"/>
                  <a:pt x="189421" y="150837"/>
                </a:cubicBezTo>
                <a:lnTo>
                  <a:pt x="189979" y="148791"/>
                </a:lnTo>
                <a:cubicBezTo>
                  <a:pt x="191988" y="141461"/>
                  <a:pt x="188230" y="133796"/>
                  <a:pt x="181235" y="130894"/>
                </a:cubicBezTo>
                <a:lnTo>
                  <a:pt x="145033" y="115825"/>
                </a:lnTo>
                <a:cubicBezTo>
                  <a:pt x="138894" y="113258"/>
                  <a:pt x="131787" y="115044"/>
                  <a:pt x="127546" y="120216"/>
                </a:cubicBezTo>
                <a:lnTo>
                  <a:pt x="113184" y="137778"/>
                </a:lnTo>
                <a:cubicBezTo>
                  <a:pt x="87027" y="124792"/>
                  <a:pt x="65968" y="103063"/>
                  <a:pt x="53876" y="76386"/>
                </a:cubicBezTo>
                <a:lnTo>
                  <a:pt x="70321" y="62992"/>
                </a:lnTo>
                <a:cubicBezTo>
                  <a:pt x="75493" y="58787"/>
                  <a:pt x="77242" y="51681"/>
                  <a:pt x="74712" y="45504"/>
                </a:cubicBezTo>
                <a:lnTo>
                  <a:pt x="59606" y="9302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6" name="Text 14"/>
          <p:cNvSpPr/>
          <p:nvPr/>
        </p:nvSpPr>
        <p:spPr>
          <a:xfrm>
            <a:off x="5003721" y="1543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VoIP Phones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21" y="198120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quality policies and routing rules reference specific IPs. Reservations maintain stable voice communication.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51271" y="2828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9" name="Text 17"/>
          <p:cNvSpPr/>
          <p:nvPr/>
        </p:nvSpPr>
        <p:spPr>
          <a:xfrm>
            <a:off x="4675108" y="28003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QoS and routing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1611" y="129540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21611" y="12954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061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4504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8864561" y="154305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Cameras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061" y="198120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NVR systems expect cameras at known addresses. Reservations facilitate easy access and management of surveillance systems.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2111" y="2828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8535948" y="28003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monitoring 24/7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29565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32956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16756" y="3581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96775"/>
                </a:lnTo>
                <a:cubicBezTo>
                  <a:pt x="6734" y="92050"/>
                  <a:pt x="14957" y="89297"/>
                  <a:pt x="23812" y="89297"/>
                </a:cubicBezTo>
                <a:lnTo>
                  <a:pt x="142875" y="89297"/>
                </a:lnTo>
                <a:cubicBezTo>
                  <a:pt x="151730" y="89297"/>
                  <a:pt x="159953" y="92050"/>
                  <a:pt x="166688" y="96775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66688" y="130969"/>
                </a:move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lose/>
                <a:moveTo>
                  <a:pt x="83344" y="142875"/>
                </a:moveTo>
                <a:cubicBezTo>
                  <a:pt x="83344" y="136304"/>
                  <a:pt x="88679" y="130969"/>
                  <a:pt x="95250" y="130969"/>
                </a:cubicBezTo>
                <a:cubicBezTo>
                  <a:pt x="101821" y="130969"/>
                  <a:pt x="107156" y="136304"/>
                  <a:pt x="107156" y="142875"/>
                </a:cubicBezTo>
                <a:cubicBezTo>
                  <a:pt x="107156" y="149446"/>
                  <a:pt x="101821" y="154781"/>
                  <a:pt x="95250" y="154781"/>
                </a:cubicBezTo>
                <a:cubicBezTo>
                  <a:pt x="88679" y="154781"/>
                  <a:pt x="83344" y="149446"/>
                  <a:pt x="83344" y="142875"/>
                </a:cubicBezTo>
                <a:close/>
                <a:moveTo>
                  <a:pt x="130969" y="130969"/>
                </a:moveTo>
                <a:cubicBezTo>
                  <a:pt x="137540" y="130969"/>
                  <a:pt x="142875" y="136304"/>
                  <a:pt x="142875" y="142875"/>
                </a:cubicBez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3543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 Devices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398145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shares and backup jobs break if IP changes. Reservations ensure storage resources remain accessible.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0550" y="4829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5" name="Text 33"/>
          <p:cNvSpPr/>
          <p:nvPr/>
        </p:nvSpPr>
        <p:spPr>
          <a:xfrm>
            <a:off x="814388" y="480060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Uninterrupted file access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60771" y="329565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60771" y="32956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2221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53664" y="3581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5003721" y="35433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TVs &amp; Streaming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2221" y="398145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forwarding and casting features depend on fixed IPs. Reservations enable seamless media streaming.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1271" y="4829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4675108" y="48006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casting &amp; AirPlay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21611" y="3295650"/>
            <a:ext cx="3686175" cy="1847850"/>
          </a:xfrm>
          <a:custGeom>
            <a:avLst/>
            <a:gdLst/>
            <a:ahLst/>
            <a:cxnLst/>
            <a:rect l="l" t="t" r="r" b="b"/>
            <a:pathLst>
              <a:path w="3686175" h="1847850">
                <a:moveTo>
                  <a:pt x="38100" y="0"/>
                </a:moveTo>
                <a:lnTo>
                  <a:pt x="3571867" y="0"/>
                </a:lnTo>
                <a:cubicBezTo>
                  <a:pt x="3634998" y="0"/>
                  <a:pt x="3686175" y="51177"/>
                  <a:pt x="3686175" y="114308"/>
                </a:cubicBezTo>
                <a:lnTo>
                  <a:pt x="3686175" y="1733542"/>
                </a:lnTo>
                <a:cubicBezTo>
                  <a:pt x="3686175" y="1796673"/>
                  <a:pt x="3634998" y="1847850"/>
                  <a:pt x="3571867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21611" y="32956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6" name="Shape 44"/>
          <p:cNvSpPr/>
          <p:nvPr/>
        </p:nvSpPr>
        <p:spPr>
          <a:xfrm>
            <a:off x="8293061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14504" y="3581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8" name="Text 46"/>
          <p:cNvSpPr/>
          <p:nvPr/>
        </p:nvSpPr>
        <p:spPr>
          <a:xfrm>
            <a:off x="8864561" y="35433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Wireless Access Points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3061" y="3981450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interfaces need predictable addresses. Reservations simplify AP administration and monitoring.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12111" y="4829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1" name="Text 49"/>
          <p:cNvSpPr/>
          <p:nvPr/>
        </p:nvSpPr>
        <p:spPr>
          <a:xfrm>
            <a:off x="8535948" y="48006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centralized management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84810" y="5299710"/>
            <a:ext cx="11418570" cy="902970"/>
          </a:xfrm>
          <a:custGeom>
            <a:avLst/>
            <a:gdLst/>
            <a:ahLst/>
            <a:cxnLst/>
            <a:rect l="l" t="t" r="r" b="b"/>
            <a:pathLst>
              <a:path w="11418570" h="902970">
                <a:moveTo>
                  <a:pt x="114298" y="0"/>
                </a:moveTo>
                <a:lnTo>
                  <a:pt x="11304272" y="0"/>
                </a:lnTo>
                <a:cubicBezTo>
                  <a:pt x="11367397" y="0"/>
                  <a:pt x="11418570" y="51173"/>
                  <a:pt x="11418570" y="114298"/>
                </a:cubicBezTo>
                <a:lnTo>
                  <a:pt x="11418570" y="788672"/>
                </a:lnTo>
                <a:cubicBezTo>
                  <a:pt x="11418570" y="851797"/>
                  <a:pt x="11367397" y="902970"/>
                  <a:pt x="113042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4839" y="560832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4" name="Text 52"/>
          <p:cNvSpPr/>
          <p:nvPr/>
        </p:nvSpPr>
        <p:spPr>
          <a:xfrm>
            <a:off x="1050608" y="5455923"/>
            <a:ext cx="942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Rule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0608" y="5798823"/>
            <a:ext cx="941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Moves between networks?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Use DHCP.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043"/>
                </a:solidFill>
                <a:highlight>
                  <a:srgbClr val="FF704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Stays on one network?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Use DHCP Reservation.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Critical infrastructure?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Use Static IP.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YOU BEGIN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Prerequisites &amp; Preparation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95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38100" y="0"/>
                </a:moveTo>
                <a:lnTo>
                  <a:pt x="5486405" y="0"/>
                </a:lnTo>
                <a:cubicBezTo>
                  <a:pt x="5549486" y="0"/>
                  <a:pt x="5600700" y="51214"/>
                  <a:pt x="5600700" y="114295"/>
                </a:cubicBezTo>
                <a:lnTo>
                  <a:pt x="5600700" y="1257305"/>
                </a:lnTo>
                <a:cubicBezTo>
                  <a:pt x="5600700" y="1320386"/>
                  <a:pt x="5549486" y="1371600"/>
                  <a:pt x="5486405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566738" y="14859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154305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Server with DHCP Role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4900" y="198120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DHCP server role is installed and configured on Windows Server 2019/2022. The server must be authorized in Active Directory.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19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38100" y="0"/>
                </a:moveTo>
                <a:lnTo>
                  <a:pt x="5486405" y="0"/>
                </a:lnTo>
                <a:cubicBezTo>
                  <a:pt x="5549486" y="0"/>
                  <a:pt x="5600700" y="51214"/>
                  <a:pt x="5600700" y="114295"/>
                </a:cubicBezTo>
                <a:lnTo>
                  <a:pt x="5600700" y="1257305"/>
                </a:lnTo>
                <a:cubicBezTo>
                  <a:pt x="5600700" y="1320386"/>
                  <a:pt x="5549486" y="1371600"/>
                  <a:pt x="5486405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819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3" name="Text 11"/>
          <p:cNvSpPr/>
          <p:nvPr/>
        </p:nvSpPr>
        <p:spPr>
          <a:xfrm>
            <a:off x="566738" y="30099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30670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Configured DHCP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350520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valid DHCP scope must exist with available IP addresses. Define the IP range, subnet mask, gateway, and DNS servers.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343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38100" y="0"/>
                </a:moveTo>
                <a:lnTo>
                  <a:pt x="5486405" y="0"/>
                </a:lnTo>
                <a:cubicBezTo>
                  <a:pt x="5549486" y="0"/>
                  <a:pt x="5600700" y="51214"/>
                  <a:pt x="5600700" y="114295"/>
                </a:cubicBezTo>
                <a:lnTo>
                  <a:pt x="5600700" y="1257305"/>
                </a:lnTo>
                <a:cubicBezTo>
                  <a:pt x="5600700" y="1320386"/>
                  <a:pt x="5549486" y="1371600"/>
                  <a:pt x="5486405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343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738" y="45339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" y="459105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Administrative Privileges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" y="5029200"/>
            <a:ext cx="4781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need Domain Admin or DHCP Administrator permissions to create and manage reservations on the server.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8870" y="1303020"/>
            <a:ext cx="5606415" cy="3215640"/>
          </a:xfrm>
          <a:custGeom>
            <a:avLst/>
            <a:gdLst/>
            <a:ahLst/>
            <a:cxnLst/>
            <a:rect l="l" t="t" r="r" b="b"/>
            <a:pathLst>
              <a:path w="5606415" h="3215640">
                <a:moveTo>
                  <a:pt x="114316" y="0"/>
                </a:moveTo>
                <a:lnTo>
                  <a:pt x="5492099" y="0"/>
                </a:lnTo>
                <a:cubicBezTo>
                  <a:pt x="5555234" y="0"/>
                  <a:pt x="5606415" y="51181"/>
                  <a:pt x="5606415" y="114316"/>
                </a:cubicBezTo>
                <a:lnTo>
                  <a:pt x="5606415" y="3101324"/>
                </a:lnTo>
                <a:cubicBezTo>
                  <a:pt x="5606415" y="3164459"/>
                  <a:pt x="5555234" y="3215640"/>
                  <a:pt x="5492099" y="3215640"/>
                </a:cubicBezTo>
                <a:lnTo>
                  <a:pt x="114316" y="3215640"/>
                </a:lnTo>
                <a:cubicBezTo>
                  <a:pt x="51181" y="3215640"/>
                  <a:pt x="0" y="3164459"/>
                  <a:pt x="0" y="3101324"/>
                </a:cubicBezTo>
                <a:lnTo>
                  <a:pt x="0" y="114316"/>
                </a:lnTo>
                <a:cubicBezTo>
                  <a:pt x="0" y="51181"/>
                  <a:pt x="51181" y="0"/>
                  <a:pt x="11431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990" y="1501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97003" y="161544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28600" y="214313"/>
                </a:lnTo>
                <a:cubicBezTo>
                  <a:pt x="244361" y="214313"/>
                  <a:pt x="257175" y="201498"/>
                  <a:pt x="257175" y="185738"/>
                </a:cubicBez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28575" y="14288"/>
                </a:lnTo>
                <a:close/>
                <a:moveTo>
                  <a:pt x="64294" y="128588"/>
                </a:moveTo>
                <a:lnTo>
                  <a:pt x="92869" y="128588"/>
                </a:lnTo>
                <a:cubicBezTo>
                  <a:pt x="112603" y="128588"/>
                  <a:pt x="128588" y="144572"/>
                  <a:pt x="128588" y="164306"/>
                </a:cubicBezTo>
                <a:cubicBezTo>
                  <a:pt x="128588" y="168235"/>
                  <a:pt x="125373" y="171450"/>
                  <a:pt x="121444" y="171450"/>
                </a:cubicBezTo>
                <a:lnTo>
                  <a:pt x="35719" y="171450"/>
                </a:lnTo>
                <a:cubicBezTo>
                  <a:pt x="31790" y="171450"/>
                  <a:pt x="28575" y="168235"/>
                  <a:pt x="28575" y="164306"/>
                </a:cubicBezTo>
                <a:cubicBezTo>
                  <a:pt x="28575" y="144572"/>
                  <a:pt x="44559" y="128588"/>
                  <a:pt x="64294" y="128588"/>
                </a:cubicBezTo>
                <a:close/>
                <a:moveTo>
                  <a:pt x="53578" y="85725"/>
                </a:moveTo>
                <a:cubicBezTo>
                  <a:pt x="53578" y="71925"/>
                  <a:pt x="64782" y="60722"/>
                  <a:pt x="78581" y="60722"/>
                </a:cubicBezTo>
                <a:cubicBezTo>
                  <a:pt x="92381" y="60722"/>
                  <a:pt x="103584" y="71925"/>
                  <a:pt x="103584" y="85725"/>
                </a:cubicBezTo>
                <a:cubicBezTo>
                  <a:pt x="103584" y="99525"/>
                  <a:pt x="92381" y="110728"/>
                  <a:pt x="78581" y="110728"/>
                </a:cubicBezTo>
                <a:cubicBezTo>
                  <a:pt x="64782" y="110728"/>
                  <a:pt x="53578" y="99525"/>
                  <a:pt x="53578" y="85725"/>
                </a:cubicBezTo>
                <a:close/>
                <a:moveTo>
                  <a:pt x="160734" y="64294"/>
                </a:moveTo>
                <a:lnTo>
                  <a:pt x="210741" y="64294"/>
                </a:lnTo>
                <a:cubicBezTo>
                  <a:pt x="216679" y="64294"/>
                  <a:pt x="221456" y="69071"/>
                  <a:pt x="221456" y="75009"/>
                </a:cubicBezTo>
                <a:cubicBezTo>
                  <a:pt x="221456" y="80948"/>
                  <a:pt x="216679" y="85725"/>
                  <a:pt x="210741" y="85725"/>
                </a:cubicBezTo>
                <a:lnTo>
                  <a:pt x="160734" y="85725"/>
                </a:lnTo>
                <a:cubicBezTo>
                  <a:pt x="154796" y="85725"/>
                  <a:pt x="150019" y="80948"/>
                  <a:pt x="150019" y="75009"/>
                </a:cubicBezTo>
                <a:cubicBezTo>
                  <a:pt x="150019" y="69071"/>
                  <a:pt x="154796" y="64294"/>
                  <a:pt x="160734" y="64294"/>
                </a:cubicBezTo>
                <a:close/>
                <a:moveTo>
                  <a:pt x="160734" y="107156"/>
                </a:moveTo>
                <a:lnTo>
                  <a:pt x="210741" y="107156"/>
                </a:lnTo>
                <a:cubicBezTo>
                  <a:pt x="216679" y="107156"/>
                  <a:pt x="221456" y="111934"/>
                  <a:pt x="221456" y="117872"/>
                </a:cubicBezTo>
                <a:cubicBezTo>
                  <a:pt x="221456" y="123810"/>
                  <a:pt x="216679" y="128588"/>
                  <a:pt x="210741" y="128588"/>
                </a:cubicBezTo>
                <a:lnTo>
                  <a:pt x="160734" y="128588"/>
                </a:lnTo>
                <a:cubicBezTo>
                  <a:pt x="154796" y="128588"/>
                  <a:pt x="150019" y="123810"/>
                  <a:pt x="150019" y="117872"/>
                </a:cubicBezTo>
                <a:cubicBezTo>
                  <a:pt x="150019" y="111934"/>
                  <a:pt x="154796" y="107156"/>
                  <a:pt x="160734" y="10715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6968490" y="1577341"/>
            <a:ext cx="3171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Important: MAC Address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6990" y="2110741"/>
            <a:ext cx="5286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must obtain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(Physical Address) of the target device before creating a reservation. This is the unique identifier that binds the device to its reserved IP.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3009901"/>
            <a:ext cx="5198745" cy="1303020"/>
          </a:xfrm>
          <a:custGeom>
            <a:avLst/>
            <a:gdLst/>
            <a:ahLst/>
            <a:cxnLst/>
            <a:rect l="l" t="t" r="r" b="b"/>
            <a:pathLst>
              <a:path w="5198745" h="1303020">
                <a:moveTo>
                  <a:pt x="76201" y="0"/>
                </a:moveTo>
                <a:lnTo>
                  <a:pt x="5122544" y="0"/>
                </a:lnTo>
                <a:cubicBezTo>
                  <a:pt x="5164629" y="0"/>
                  <a:pt x="5198745" y="34116"/>
                  <a:pt x="5198745" y="76201"/>
                </a:cubicBezTo>
                <a:lnTo>
                  <a:pt x="5198745" y="1226819"/>
                </a:lnTo>
                <a:cubicBezTo>
                  <a:pt x="5198745" y="1268904"/>
                  <a:pt x="5164629" y="1303020"/>
                  <a:pt x="5122544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7010" y="3166109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Find MAC Address: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57010" y="3432809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highlight>
                  <a:srgbClr val="37474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getmac /v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highlight>
                  <a:srgbClr val="37474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ipconfig /all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7010" y="3699509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Linux: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highlight>
                  <a:srgbClr val="37474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ip link show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DB6AC"/>
                </a:solidFill>
                <a:highlight>
                  <a:srgbClr val="37474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ifconfig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57010" y="3966209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00-1A-2B-3C-4D-5E (with hyphens) or 001A2B3C4D5E (without)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060" y="4678683"/>
            <a:ext cx="5608320" cy="1226820"/>
          </a:xfrm>
          <a:custGeom>
            <a:avLst/>
            <a:gdLst/>
            <a:ahLst/>
            <a:cxnLst/>
            <a:rect l="l" t="t" r="r" b="b"/>
            <a:pathLst>
              <a:path w="5608320" h="1226820">
                <a:moveTo>
                  <a:pt x="114303" y="0"/>
                </a:moveTo>
                <a:lnTo>
                  <a:pt x="5494017" y="0"/>
                </a:lnTo>
                <a:cubicBezTo>
                  <a:pt x="5557145" y="0"/>
                  <a:pt x="5608320" y="51175"/>
                  <a:pt x="5608320" y="114303"/>
                </a:cubicBezTo>
                <a:lnTo>
                  <a:pt x="5608320" y="1112517"/>
                </a:lnTo>
                <a:cubicBezTo>
                  <a:pt x="5608320" y="1175603"/>
                  <a:pt x="5557103" y="1226820"/>
                  <a:pt x="549401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3182" y="49110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4" name="Text 32"/>
          <p:cNvSpPr/>
          <p:nvPr/>
        </p:nvSpPr>
        <p:spPr>
          <a:xfrm>
            <a:off x="6741795" y="4872991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Consideration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41795" y="5215891"/>
            <a:ext cx="4943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the IP address you want to reserve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outside the dynamic DHCP pool range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not currently leased to another device to avoid conflicts.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via DHCP Manager (GUI)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99125" cy="650875"/>
          </a:xfrm>
          <a:custGeom>
            <a:avLst/>
            <a:gdLst/>
            <a:ahLst/>
            <a:cxnLst/>
            <a:rect l="l" t="t" r="r" b="b"/>
            <a:pathLst>
              <a:path w="5699125" h="650875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555626"/>
                </a:lnTo>
                <a:cubicBezTo>
                  <a:pt x="5699125" y="608231"/>
                  <a:pt x="5656481" y="650875"/>
                  <a:pt x="5603876" y="650875"/>
                </a:cubicBez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16000"/>
            <a:ext cx="31750" cy="650875"/>
          </a:xfrm>
          <a:custGeom>
            <a:avLst/>
            <a:gdLst/>
            <a:ahLst/>
            <a:cxnLst/>
            <a:rect l="l" t="t" r="r" b="b"/>
            <a:pathLst>
              <a:path w="31750" h="650875">
                <a:moveTo>
                  <a:pt x="31750" y="0"/>
                </a:moveTo>
                <a:lnTo>
                  <a:pt x="31750" y="0"/>
                </a:lnTo>
                <a:lnTo>
                  <a:pt x="31750" y="650875"/>
                </a:ln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444500" y="1111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404813" y="1111250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7250" y="1111250"/>
            <a:ext cx="419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DHCP 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7250" y="1365250"/>
            <a:ext cx="4191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Navigate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→ Administrative Tools → DHCP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run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4DB6AC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dhcpmgmt.msc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375" y="1730375"/>
            <a:ext cx="5699125" cy="650875"/>
          </a:xfrm>
          <a:custGeom>
            <a:avLst/>
            <a:gdLst/>
            <a:ahLst/>
            <a:cxnLst/>
            <a:rect l="l" t="t" r="r" b="b"/>
            <a:pathLst>
              <a:path w="5699125" h="650875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555626"/>
                </a:lnTo>
                <a:cubicBezTo>
                  <a:pt x="5699125" y="608231"/>
                  <a:pt x="5656481" y="650875"/>
                  <a:pt x="5603876" y="650875"/>
                </a:cubicBez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3375" y="1730375"/>
            <a:ext cx="31750" cy="650875"/>
          </a:xfrm>
          <a:custGeom>
            <a:avLst/>
            <a:gdLst/>
            <a:ahLst/>
            <a:cxnLst/>
            <a:rect l="l" t="t" r="r" b="b"/>
            <a:pathLst>
              <a:path w="31750" h="650875">
                <a:moveTo>
                  <a:pt x="31750" y="0"/>
                </a:moveTo>
                <a:lnTo>
                  <a:pt x="31750" y="0"/>
                </a:lnTo>
                <a:lnTo>
                  <a:pt x="31750" y="650875"/>
                </a:ln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500" y="1825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3" name="Text 11"/>
          <p:cNvSpPr/>
          <p:nvPr/>
        </p:nvSpPr>
        <p:spPr>
          <a:xfrm>
            <a:off x="404813" y="1825625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" y="1825625"/>
            <a:ext cx="445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Navigate to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" y="2079625"/>
            <a:ext cx="4445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your server →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Select your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Right-click on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375" y="2444750"/>
            <a:ext cx="5699125" cy="650875"/>
          </a:xfrm>
          <a:custGeom>
            <a:avLst/>
            <a:gdLst/>
            <a:ahLst/>
            <a:cxnLst/>
            <a:rect l="l" t="t" r="r" b="b"/>
            <a:pathLst>
              <a:path w="5699125" h="650875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555626"/>
                </a:lnTo>
                <a:cubicBezTo>
                  <a:pt x="5699125" y="608231"/>
                  <a:pt x="5656481" y="650875"/>
                  <a:pt x="5603876" y="650875"/>
                </a:cubicBez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3375" y="2444750"/>
            <a:ext cx="31750" cy="650875"/>
          </a:xfrm>
          <a:custGeom>
            <a:avLst/>
            <a:gdLst/>
            <a:ahLst/>
            <a:cxnLst/>
            <a:rect l="l" t="t" r="r" b="b"/>
            <a:pathLst>
              <a:path w="31750" h="650875">
                <a:moveTo>
                  <a:pt x="31750" y="0"/>
                </a:moveTo>
                <a:lnTo>
                  <a:pt x="31750" y="0"/>
                </a:lnTo>
                <a:lnTo>
                  <a:pt x="31750" y="650875"/>
                </a:ln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500" y="2540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404813" y="2540000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" y="2540000"/>
            <a:ext cx="453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New Reservation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7250" y="2794000"/>
            <a:ext cx="4524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"New Reservation..."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the context menu to open the reservation dialog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75" y="3159125"/>
            <a:ext cx="5699125" cy="1301750"/>
          </a:xfrm>
          <a:custGeom>
            <a:avLst/>
            <a:gdLst/>
            <a:ahLst/>
            <a:cxnLst/>
            <a:rect l="l" t="t" r="r" b="b"/>
            <a:pathLst>
              <a:path w="5699125" h="1301750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1206501"/>
                </a:lnTo>
                <a:cubicBezTo>
                  <a:pt x="5699125" y="1259106"/>
                  <a:pt x="5656481" y="1301750"/>
                  <a:pt x="5603876" y="1301750"/>
                </a:cubicBez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375" y="3159125"/>
            <a:ext cx="31750" cy="1301750"/>
          </a:xfrm>
          <a:custGeom>
            <a:avLst/>
            <a:gdLst/>
            <a:ahLst/>
            <a:cxnLst/>
            <a:rect l="l" t="t" r="r" b="b"/>
            <a:pathLst>
              <a:path w="31750" h="1301750">
                <a:moveTo>
                  <a:pt x="31750" y="0"/>
                </a:moveTo>
                <a:lnTo>
                  <a:pt x="31750" y="0"/>
                </a:lnTo>
                <a:lnTo>
                  <a:pt x="31750" y="1301750"/>
                </a:ln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500" y="32543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5" name="Text 23"/>
          <p:cNvSpPr/>
          <p:nvPr/>
        </p:nvSpPr>
        <p:spPr>
          <a:xfrm>
            <a:off x="404813" y="3254375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250" y="3254375"/>
            <a:ext cx="3833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Reservation Details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7250" y="3508375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Reservation name: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Descriptive name (e.g., "Office-Printer-01")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7250" y="3730625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fixed IP to reserve (e.g., 192.168.1.50)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250" y="3952875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Device MAC without hyphens (e.g., 001A2B3C4D5E)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7250" y="4175125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Optional details about the device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3375" y="4524375"/>
            <a:ext cx="5699125" cy="650875"/>
          </a:xfrm>
          <a:custGeom>
            <a:avLst/>
            <a:gdLst/>
            <a:ahLst/>
            <a:cxnLst/>
            <a:rect l="l" t="t" r="r" b="b"/>
            <a:pathLst>
              <a:path w="5699125" h="650875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555626"/>
                </a:lnTo>
                <a:cubicBezTo>
                  <a:pt x="5699125" y="608231"/>
                  <a:pt x="5656481" y="650875"/>
                  <a:pt x="5603876" y="650875"/>
                </a:cubicBez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3375" y="4524375"/>
            <a:ext cx="31750" cy="650875"/>
          </a:xfrm>
          <a:custGeom>
            <a:avLst/>
            <a:gdLst/>
            <a:ahLst/>
            <a:cxnLst/>
            <a:rect l="l" t="t" r="r" b="b"/>
            <a:pathLst>
              <a:path w="31750" h="650875">
                <a:moveTo>
                  <a:pt x="31750" y="0"/>
                </a:moveTo>
                <a:lnTo>
                  <a:pt x="31750" y="0"/>
                </a:lnTo>
                <a:lnTo>
                  <a:pt x="31750" y="650875"/>
                </a:ln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Shape 31"/>
          <p:cNvSpPr/>
          <p:nvPr/>
        </p:nvSpPr>
        <p:spPr>
          <a:xfrm>
            <a:off x="444500" y="46196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Text 32"/>
          <p:cNvSpPr/>
          <p:nvPr/>
        </p:nvSpPr>
        <p:spPr>
          <a:xfrm>
            <a:off x="404813" y="4619625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250" y="4619625"/>
            <a:ext cx="460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Supported Types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7250" y="4873625"/>
            <a:ext cx="4595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only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BOOTP only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or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 For most modern devices, select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375" y="5238750"/>
            <a:ext cx="5699125" cy="650875"/>
          </a:xfrm>
          <a:custGeom>
            <a:avLst/>
            <a:gdLst/>
            <a:ahLst/>
            <a:cxnLst/>
            <a:rect l="l" t="t" r="r" b="b"/>
            <a:pathLst>
              <a:path w="5699125" h="650875">
                <a:moveTo>
                  <a:pt x="31750" y="0"/>
                </a:moveTo>
                <a:lnTo>
                  <a:pt x="5603876" y="0"/>
                </a:lnTo>
                <a:cubicBezTo>
                  <a:pt x="5656481" y="0"/>
                  <a:pt x="5699125" y="42644"/>
                  <a:pt x="5699125" y="95249"/>
                </a:cubicBezTo>
                <a:lnTo>
                  <a:pt x="5699125" y="555626"/>
                </a:lnTo>
                <a:cubicBezTo>
                  <a:pt x="5699125" y="608231"/>
                  <a:pt x="5656481" y="650875"/>
                  <a:pt x="5603876" y="650875"/>
                </a:cubicBez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3375" y="5238750"/>
            <a:ext cx="31750" cy="650875"/>
          </a:xfrm>
          <a:custGeom>
            <a:avLst/>
            <a:gdLst/>
            <a:ahLst/>
            <a:cxnLst/>
            <a:rect l="l" t="t" r="r" b="b"/>
            <a:pathLst>
              <a:path w="31750" h="650875">
                <a:moveTo>
                  <a:pt x="31750" y="0"/>
                </a:moveTo>
                <a:lnTo>
                  <a:pt x="31750" y="0"/>
                </a:lnTo>
                <a:lnTo>
                  <a:pt x="31750" y="650875"/>
                </a:lnTo>
                <a:lnTo>
                  <a:pt x="31750" y="650875"/>
                </a:lnTo>
                <a:cubicBezTo>
                  <a:pt x="14227" y="650875"/>
                  <a:pt x="0" y="636648"/>
                  <a:pt x="0" y="61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9" name="Shape 37"/>
          <p:cNvSpPr/>
          <p:nvPr/>
        </p:nvSpPr>
        <p:spPr>
          <a:xfrm>
            <a:off x="444500" y="533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0" name="Text 38"/>
          <p:cNvSpPr/>
          <p:nvPr/>
        </p:nvSpPr>
        <p:spPr>
          <a:xfrm>
            <a:off x="404813" y="5334000"/>
            <a:ext cx="396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7250" y="5334000"/>
            <a:ext cx="437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and Verify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7250" y="5588000"/>
            <a:ext cx="436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 The new reservation appears in the Reservations folder.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5850" y="1022350"/>
            <a:ext cx="5703887" cy="1457325"/>
          </a:xfrm>
          <a:custGeom>
            <a:avLst/>
            <a:gdLst/>
            <a:ahLst/>
            <a:cxnLst/>
            <a:rect l="l" t="t" r="r" b="b"/>
            <a:pathLst>
              <a:path w="5703887" h="1457325">
                <a:moveTo>
                  <a:pt x="95251" y="0"/>
                </a:moveTo>
                <a:lnTo>
                  <a:pt x="5608637" y="0"/>
                </a:lnTo>
                <a:cubicBezTo>
                  <a:pt x="5661242" y="0"/>
                  <a:pt x="5703888" y="42645"/>
                  <a:pt x="5703888" y="95251"/>
                </a:cubicBezTo>
                <a:lnTo>
                  <a:pt x="5703887" y="1362074"/>
                </a:lnTo>
                <a:cubicBezTo>
                  <a:pt x="5703888" y="1414680"/>
                  <a:pt x="5661242" y="1457325"/>
                  <a:pt x="5608637" y="1457325"/>
                </a:cubicBezTo>
                <a:lnTo>
                  <a:pt x="95251" y="1457325"/>
                </a:lnTo>
                <a:cubicBezTo>
                  <a:pt x="42645" y="1457325"/>
                  <a:pt x="0" y="1414680"/>
                  <a:pt x="0" y="1362074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2032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19044" y="11874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6497638" y="1155701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BOOTP?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9200" y="1473201"/>
            <a:ext cx="5500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BOOTP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(Bootstrap Protocol) was designed to dynamically assign IP addresses when computers boot up. Unlike DHCP, BOOTP only configures TCP/IP settings during boot time, not while the OS is running.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99200" y="2187576"/>
            <a:ext cx="549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devices typically use DHCP, but selecting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"Both"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compatibility with legacy equipment.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2675" y="2584452"/>
            <a:ext cx="5705475" cy="1387475"/>
          </a:xfrm>
          <a:custGeom>
            <a:avLst/>
            <a:gdLst/>
            <a:ahLst/>
            <a:cxnLst/>
            <a:rect l="l" t="t" r="r" b="b"/>
            <a:pathLst>
              <a:path w="5705475" h="1387475">
                <a:moveTo>
                  <a:pt x="95250" y="0"/>
                </a:moveTo>
                <a:lnTo>
                  <a:pt x="5610225" y="0"/>
                </a:lnTo>
                <a:cubicBezTo>
                  <a:pt x="5662830" y="0"/>
                  <a:pt x="5705475" y="42645"/>
                  <a:pt x="5705475" y="95250"/>
                </a:cubicBezTo>
                <a:lnTo>
                  <a:pt x="5705475" y="1292225"/>
                </a:lnTo>
                <a:cubicBezTo>
                  <a:pt x="5705475" y="1344830"/>
                  <a:pt x="5662830" y="1387475"/>
                  <a:pt x="5610225" y="1387475"/>
                </a:cubicBezTo>
                <a:lnTo>
                  <a:pt x="95250" y="1387475"/>
                </a:lnTo>
                <a:cubicBezTo>
                  <a:pt x="42645" y="1387475"/>
                  <a:pt x="0" y="1344830"/>
                  <a:pt x="0" y="12922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12694" y="2754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623" y="33096"/>
                </a:moveTo>
                <a:cubicBezTo>
                  <a:pt x="-865" y="29607"/>
                  <a:pt x="-865" y="23943"/>
                  <a:pt x="2623" y="20455"/>
                </a:cubicBezTo>
                <a:cubicBezTo>
                  <a:pt x="6111" y="16966"/>
                  <a:pt x="11776" y="16966"/>
                  <a:pt x="15264" y="20455"/>
                </a:cubicBezTo>
                <a:lnTo>
                  <a:pt x="59913" y="65103"/>
                </a:lnTo>
                <a:cubicBezTo>
                  <a:pt x="63401" y="68591"/>
                  <a:pt x="63401" y="74256"/>
                  <a:pt x="59913" y="77744"/>
                </a:cubicBezTo>
                <a:lnTo>
                  <a:pt x="15264" y="122393"/>
                </a:lnTo>
                <a:cubicBezTo>
                  <a:pt x="11776" y="125881"/>
                  <a:pt x="6111" y="125881"/>
                  <a:pt x="2623" y="122393"/>
                </a:cubicBezTo>
                <a:cubicBezTo>
                  <a:pt x="-865" y="118904"/>
                  <a:pt x="-865" y="113240"/>
                  <a:pt x="2623" y="109751"/>
                </a:cubicBezTo>
                <a:lnTo>
                  <a:pt x="40937" y="71438"/>
                </a:lnTo>
                <a:lnTo>
                  <a:pt x="2623" y="33096"/>
                </a:lnTo>
                <a:close/>
                <a:moveTo>
                  <a:pt x="62508" y="107156"/>
                </a:move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62508" y="125016"/>
                </a:lnTo>
                <a:cubicBezTo>
                  <a:pt x="57569" y="125016"/>
                  <a:pt x="53578" y="121025"/>
                  <a:pt x="53578" y="116086"/>
                </a:cubicBezTo>
                <a:cubicBezTo>
                  <a:pt x="53578" y="111147"/>
                  <a:pt x="57569" y="107156"/>
                  <a:pt x="62508" y="107156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0" name="Text 48"/>
          <p:cNvSpPr/>
          <p:nvPr/>
        </p:nvSpPr>
        <p:spPr>
          <a:xfrm>
            <a:off x="6475412" y="2714625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Force Client Renewal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92850" y="3032125"/>
            <a:ext cx="550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creating the reservation, the client must renew its lease to receive the reserved IP: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92850" y="3333750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7474F"/>
          </a:solidFill>
          <a:ln/>
        </p:spPr>
      </p:sp>
      <p:sp>
        <p:nvSpPr>
          <p:cNvPr id="53" name="Text 51"/>
          <p:cNvSpPr/>
          <p:nvPr/>
        </p:nvSpPr>
        <p:spPr>
          <a:xfrm>
            <a:off x="6388100" y="342900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ipconfig /release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8100" y="3587750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ipconfig /renew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2675" y="4073527"/>
            <a:ext cx="5705475" cy="958850"/>
          </a:xfrm>
          <a:custGeom>
            <a:avLst/>
            <a:gdLst/>
            <a:ahLst/>
            <a:cxnLst/>
            <a:rect l="l" t="t" r="r" b="b"/>
            <a:pathLst>
              <a:path w="5705475" h="958850">
                <a:moveTo>
                  <a:pt x="95252" y="0"/>
                </a:moveTo>
                <a:lnTo>
                  <a:pt x="5610223" y="0"/>
                </a:lnTo>
                <a:cubicBezTo>
                  <a:pt x="5662829" y="0"/>
                  <a:pt x="5705475" y="42646"/>
                  <a:pt x="5705475" y="95252"/>
                </a:cubicBezTo>
                <a:lnTo>
                  <a:pt x="5705475" y="863598"/>
                </a:lnTo>
                <a:cubicBezTo>
                  <a:pt x="5705475" y="916204"/>
                  <a:pt x="5662829" y="958850"/>
                  <a:pt x="5610223" y="958850"/>
                </a:cubicBezTo>
                <a:lnTo>
                  <a:pt x="95252" y="958850"/>
                </a:lnTo>
                <a:cubicBezTo>
                  <a:pt x="42646" y="958850"/>
                  <a:pt x="0" y="916204"/>
                  <a:pt x="0" y="863598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FF7043">
              <a:alpha val="10196"/>
            </a:srgbClr>
          </a:solidFill>
          <a:ln w="10160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32537" y="423545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57" name="Text 55"/>
          <p:cNvSpPr/>
          <p:nvPr/>
        </p:nvSpPr>
        <p:spPr>
          <a:xfrm>
            <a:off x="6586537" y="4203701"/>
            <a:ext cx="522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86537" y="4489451"/>
            <a:ext cx="5214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can also create a reservation from an existing lease. Go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Leases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right-click the client, and select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"Add to Reservation"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&amp; SCRIPTING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via PowerShell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82675"/>
            <a:ext cx="5689600" cy="2006600"/>
          </a:xfrm>
          <a:custGeom>
            <a:avLst/>
            <a:gdLst/>
            <a:ahLst/>
            <a:cxnLst/>
            <a:rect l="l" t="t" r="r" b="b"/>
            <a:pathLst>
              <a:path w="5689600" h="2006600">
                <a:moveTo>
                  <a:pt x="95253" y="0"/>
                </a:moveTo>
                <a:lnTo>
                  <a:pt x="5594347" y="0"/>
                </a:lnTo>
                <a:cubicBezTo>
                  <a:pt x="5646954" y="0"/>
                  <a:pt x="5689600" y="42646"/>
                  <a:pt x="5689600" y="95253"/>
                </a:cubicBezTo>
                <a:lnTo>
                  <a:pt x="5689600" y="1911347"/>
                </a:lnTo>
                <a:cubicBezTo>
                  <a:pt x="5689600" y="1963954"/>
                  <a:pt x="5646954" y="2006600"/>
                  <a:pt x="5594347" y="2006600"/>
                </a:cubicBezTo>
                <a:lnTo>
                  <a:pt x="95253" y="2006600"/>
                </a:lnTo>
                <a:cubicBezTo>
                  <a:pt x="42646" y="2006600"/>
                  <a:pt x="0" y="1963954"/>
                  <a:pt x="0" y="1911347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444" y="1276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1934" y="106660"/>
                </a:moveTo>
                <a:lnTo>
                  <a:pt x="71934" y="86816"/>
                </a:lnTo>
                <a:lnTo>
                  <a:pt x="52090" y="86816"/>
                </a:lnTo>
                <a:cubicBezTo>
                  <a:pt x="47966" y="86816"/>
                  <a:pt x="44648" y="83499"/>
                  <a:pt x="44648" y="79375"/>
                </a:cubicBezTo>
                <a:cubicBezTo>
                  <a:pt x="44648" y="75251"/>
                  <a:pt x="47966" y="71934"/>
                  <a:pt x="52090" y="71934"/>
                </a:cubicBezTo>
                <a:lnTo>
                  <a:pt x="71934" y="71934"/>
                </a:lnTo>
                <a:lnTo>
                  <a:pt x="71934" y="52090"/>
                </a:lnTo>
                <a:cubicBezTo>
                  <a:pt x="71934" y="47966"/>
                  <a:pt x="75251" y="44648"/>
                  <a:pt x="79375" y="44648"/>
                </a:cubicBezTo>
                <a:cubicBezTo>
                  <a:pt x="83499" y="44648"/>
                  <a:pt x="86816" y="47966"/>
                  <a:pt x="86816" y="52090"/>
                </a:cubicBezTo>
                <a:lnTo>
                  <a:pt x="86816" y="71934"/>
                </a:lnTo>
                <a:lnTo>
                  <a:pt x="106660" y="71934"/>
                </a:lnTo>
                <a:cubicBezTo>
                  <a:pt x="110784" y="71934"/>
                  <a:pt x="114102" y="75251"/>
                  <a:pt x="114102" y="79375"/>
                </a:cubicBezTo>
                <a:cubicBezTo>
                  <a:pt x="114102" y="83499"/>
                  <a:pt x="110784" y="86816"/>
                  <a:pt x="106660" y="86816"/>
                </a:cubicBezTo>
                <a:lnTo>
                  <a:pt x="86816" y="86816"/>
                </a:lnTo>
                <a:lnTo>
                  <a:pt x="86816" y="106660"/>
                </a:lnTo>
                <a:cubicBezTo>
                  <a:pt x="86816" y="110784"/>
                  <a:pt x="83499" y="114102"/>
                  <a:pt x="79375" y="114102"/>
                </a:cubicBezTo>
                <a:cubicBezTo>
                  <a:pt x="75251" y="114102"/>
                  <a:pt x="71934" y="110784"/>
                  <a:pt x="71934" y="10666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4"/>
          <p:cNvSpPr/>
          <p:nvPr/>
        </p:nvSpPr>
        <p:spPr>
          <a:xfrm>
            <a:off x="681037" y="1244602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Single Reservation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600" y="1562102"/>
            <a:ext cx="5365750" cy="1365250"/>
          </a:xfrm>
          <a:custGeom>
            <a:avLst/>
            <a:gdLst/>
            <a:ahLst/>
            <a:cxnLst/>
            <a:rect l="l" t="t" r="r" b="b"/>
            <a:pathLst>
              <a:path w="5365750" h="1365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1301752"/>
                </a:lnTo>
                <a:cubicBezTo>
                  <a:pt x="5365750" y="1336821"/>
                  <a:pt x="5337321" y="1365250"/>
                  <a:pt x="5302252" y="1365250"/>
                </a:cubicBezTo>
                <a:lnTo>
                  <a:pt x="63498" y="1365250"/>
                </a:lnTo>
                <a:cubicBezTo>
                  <a:pt x="28429" y="1365250"/>
                  <a:pt x="0" y="1336821"/>
                  <a:pt x="0" y="13017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37474F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689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879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070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-IPAddress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192.168.1.50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260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-ClientId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"00-1A-2B-3C-4D-5E"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51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-Name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"Office-Printer-01"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641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-Description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"HP LaserJet - Conference Room"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675" y="3222626"/>
            <a:ext cx="5689600" cy="2228850"/>
          </a:xfrm>
          <a:custGeom>
            <a:avLst/>
            <a:gdLst/>
            <a:ahLst/>
            <a:cxnLst/>
            <a:rect l="l" t="t" r="r" b="b"/>
            <a:pathLst>
              <a:path w="5689600" h="2228850">
                <a:moveTo>
                  <a:pt x="95261" y="0"/>
                </a:moveTo>
                <a:lnTo>
                  <a:pt x="5594339" y="0"/>
                </a:lnTo>
                <a:cubicBezTo>
                  <a:pt x="5646950" y="0"/>
                  <a:pt x="5689600" y="42650"/>
                  <a:pt x="5689600" y="95261"/>
                </a:cubicBezTo>
                <a:lnTo>
                  <a:pt x="5689600" y="2133589"/>
                </a:lnTo>
                <a:cubicBezTo>
                  <a:pt x="5689600" y="2186200"/>
                  <a:pt x="5646950" y="2228850"/>
                  <a:pt x="5594339" y="2228850"/>
                </a:cubicBezTo>
                <a:lnTo>
                  <a:pt x="95261" y="2228850"/>
                </a:lnTo>
                <a:cubicBezTo>
                  <a:pt x="42650" y="2228850"/>
                  <a:pt x="0" y="2186200"/>
                  <a:pt x="0" y="2133589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444" y="341629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402" y="14883"/>
                </a:moveTo>
                <a:cubicBezTo>
                  <a:pt x="8279" y="14883"/>
                  <a:pt x="4961" y="18200"/>
                  <a:pt x="4961" y="22324"/>
                </a:cubicBezTo>
                <a:lnTo>
                  <a:pt x="4961" y="37207"/>
                </a:lnTo>
                <a:cubicBezTo>
                  <a:pt x="4961" y="41331"/>
                  <a:pt x="8279" y="44648"/>
                  <a:pt x="12402" y="44648"/>
                </a:cubicBezTo>
                <a:lnTo>
                  <a:pt x="27285" y="44648"/>
                </a:lnTo>
                <a:cubicBezTo>
                  <a:pt x="31409" y="44648"/>
                  <a:pt x="34727" y="41331"/>
                  <a:pt x="34727" y="37207"/>
                </a:cubicBezTo>
                <a:lnTo>
                  <a:pt x="34727" y="22324"/>
                </a:lnTo>
                <a:cubicBezTo>
                  <a:pt x="34727" y="18200"/>
                  <a:pt x="31409" y="14883"/>
                  <a:pt x="27285" y="14883"/>
                </a:cubicBezTo>
                <a:lnTo>
                  <a:pt x="12402" y="14883"/>
                </a:lnTo>
                <a:close/>
                <a:moveTo>
                  <a:pt x="59531" y="19844"/>
                </a:moveTo>
                <a:cubicBezTo>
                  <a:pt x="54043" y="19844"/>
                  <a:pt x="49609" y="24278"/>
                  <a:pt x="49609" y="29766"/>
                </a:cubicBezTo>
                <a:cubicBezTo>
                  <a:pt x="49609" y="35254"/>
                  <a:pt x="54043" y="39688"/>
                  <a:pt x="59531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59531" y="19844"/>
                </a:lnTo>
                <a:close/>
                <a:moveTo>
                  <a:pt x="59531" y="69453"/>
                </a:moveTo>
                <a:cubicBezTo>
                  <a:pt x="54043" y="69453"/>
                  <a:pt x="49609" y="73887"/>
                  <a:pt x="49609" y="79375"/>
                </a:cubicBezTo>
                <a:cubicBezTo>
                  <a:pt x="49609" y="84863"/>
                  <a:pt x="54043" y="89297"/>
                  <a:pt x="59531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59531" y="69453"/>
                </a:lnTo>
                <a:close/>
                <a:moveTo>
                  <a:pt x="59531" y="119062"/>
                </a:moveTo>
                <a:cubicBezTo>
                  <a:pt x="54043" y="119062"/>
                  <a:pt x="49609" y="123496"/>
                  <a:pt x="49609" y="128984"/>
                </a:cubicBezTo>
                <a:cubicBezTo>
                  <a:pt x="49609" y="134472"/>
                  <a:pt x="54043" y="138906"/>
                  <a:pt x="59531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59531" y="119062"/>
                </a:lnTo>
                <a:close/>
                <a:moveTo>
                  <a:pt x="4961" y="71934"/>
                </a:moveTo>
                <a:lnTo>
                  <a:pt x="4961" y="86816"/>
                </a:lnTo>
                <a:cubicBezTo>
                  <a:pt x="4961" y="90940"/>
                  <a:pt x="8279" y="94258"/>
                  <a:pt x="12402" y="94258"/>
                </a:cubicBezTo>
                <a:lnTo>
                  <a:pt x="27285" y="94258"/>
                </a:lnTo>
                <a:cubicBezTo>
                  <a:pt x="31409" y="94258"/>
                  <a:pt x="34727" y="90940"/>
                  <a:pt x="34727" y="86816"/>
                </a:cubicBezTo>
                <a:lnTo>
                  <a:pt x="34727" y="71934"/>
                </a:lnTo>
                <a:cubicBezTo>
                  <a:pt x="34727" y="67810"/>
                  <a:pt x="31409" y="64492"/>
                  <a:pt x="27285" y="64492"/>
                </a:cubicBezTo>
                <a:lnTo>
                  <a:pt x="12402" y="64492"/>
                </a:lnTo>
                <a:cubicBezTo>
                  <a:pt x="8279" y="64492"/>
                  <a:pt x="4961" y="67810"/>
                  <a:pt x="4961" y="71934"/>
                </a:cubicBezTo>
                <a:close/>
                <a:moveTo>
                  <a:pt x="12402" y="114102"/>
                </a:moveTo>
                <a:cubicBezTo>
                  <a:pt x="8279" y="114102"/>
                  <a:pt x="4961" y="117419"/>
                  <a:pt x="4961" y="121543"/>
                </a:cubicBezTo>
                <a:lnTo>
                  <a:pt x="4961" y="136426"/>
                </a:lnTo>
                <a:cubicBezTo>
                  <a:pt x="4961" y="140550"/>
                  <a:pt x="8279" y="143867"/>
                  <a:pt x="12402" y="143867"/>
                </a:cubicBezTo>
                <a:lnTo>
                  <a:pt x="27285" y="143867"/>
                </a:lnTo>
                <a:cubicBezTo>
                  <a:pt x="31409" y="143867"/>
                  <a:pt x="34727" y="140550"/>
                  <a:pt x="34727" y="136426"/>
                </a:cubicBezTo>
                <a:lnTo>
                  <a:pt x="34727" y="121543"/>
                </a:lnTo>
                <a:cubicBezTo>
                  <a:pt x="34727" y="117419"/>
                  <a:pt x="31409" y="114102"/>
                  <a:pt x="27285" y="114102"/>
                </a:cubicBezTo>
                <a:lnTo>
                  <a:pt x="12402" y="114102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1037" y="3384549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Existing Reservations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2600" y="3702049"/>
            <a:ext cx="5365750" cy="1587500"/>
          </a:xfrm>
          <a:custGeom>
            <a:avLst/>
            <a:gdLst/>
            <a:ahLst/>
            <a:cxnLst/>
            <a:rect l="l" t="t" r="r" b="b"/>
            <a:pathLst>
              <a:path w="5365750" h="1587500">
                <a:moveTo>
                  <a:pt x="63500" y="0"/>
                </a:moveTo>
                <a:lnTo>
                  <a:pt x="5302250" y="0"/>
                </a:lnTo>
                <a:cubicBezTo>
                  <a:pt x="5337297" y="0"/>
                  <a:pt x="5365750" y="28453"/>
                  <a:pt x="5365750" y="63500"/>
                </a:cubicBezTo>
                <a:lnTo>
                  <a:pt x="5365750" y="1524000"/>
                </a:lnTo>
                <a:cubicBezTo>
                  <a:pt x="5365750" y="1559047"/>
                  <a:pt x="5337297" y="1587500"/>
                  <a:pt x="5302250" y="1587500"/>
                </a:cubicBezTo>
                <a:lnTo>
                  <a:pt x="63500" y="1587500"/>
                </a:lnTo>
                <a:cubicBezTo>
                  <a:pt x="28453" y="1587500"/>
                  <a:pt x="0" y="1559047"/>
                  <a:pt x="0" y="152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3841750"/>
            <a:ext cx="213290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List all reservations in a scope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01954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21004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445000"/>
            <a:ext cx="2194024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Find reservation for specific MAC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6227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8132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`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0037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Where-Object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{$_.ClientId -eq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"00-1A-2B-3C-4D-5E"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8550" y="1082675"/>
            <a:ext cx="5689600" cy="2832100"/>
          </a:xfrm>
          <a:custGeom>
            <a:avLst/>
            <a:gdLst/>
            <a:ahLst/>
            <a:cxnLst/>
            <a:rect l="l" t="t" r="r" b="b"/>
            <a:pathLst>
              <a:path w="5689600" h="283210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2736856"/>
                </a:lnTo>
                <a:cubicBezTo>
                  <a:pt x="5689600" y="2789458"/>
                  <a:pt x="5646958" y="2832100"/>
                  <a:pt x="5594356" y="2832100"/>
                </a:cubicBezTo>
                <a:lnTo>
                  <a:pt x="95244" y="2832100"/>
                </a:lnTo>
                <a:cubicBezTo>
                  <a:pt x="42642" y="2832100"/>
                  <a:pt x="0" y="2789458"/>
                  <a:pt x="0" y="27368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397" y="12763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0"/>
                </a:moveTo>
                <a:cubicBezTo>
                  <a:pt x="18821" y="0"/>
                  <a:pt x="9922" y="8899"/>
                  <a:pt x="9922" y="19844"/>
                </a:cubicBezTo>
                <a:lnTo>
                  <a:pt x="9922" y="138906"/>
                </a:lnTo>
                <a:cubicBezTo>
                  <a:pt x="9922" y="149851"/>
                  <a:pt x="18821" y="158750"/>
                  <a:pt x="29766" y="158750"/>
                </a:cubicBezTo>
                <a:lnTo>
                  <a:pt x="54570" y="158750"/>
                </a:lnTo>
                <a:lnTo>
                  <a:pt x="54570" y="124023"/>
                </a:lnTo>
                <a:cubicBezTo>
                  <a:pt x="54570" y="113078"/>
                  <a:pt x="63469" y="104180"/>
                  <a:pt x="74414" y="104180"/>
                </a:cubicBezTo>
                <a:lnTo>
                  <a:pt x="128984" y="104180"/>
                </a:lnTo>
                <a:lnTo>
                  <a:pt x="128984" y="52865"/>
                </a:lnTo>
                <a:cubicBezTo>
                  <a:pt x="128984" y="47594"/>
                  <a:pt x="126907" y="42540"/>
                  <a:pt x="123186" y="38819"/>
                </a:cubicBezTo>
                <a:lnTo>
                  <a:pt x="90134" y="5798"/>
                </a:lnTo>
                <a:cubicBezTo>
                  <a:pt x="86413" y="2077"/>
                  <a:pt x="81390" y="0"/>
                  <a:pt x="76119" y="0"/>
                </a:cubicBezTo>
                <a:lnTo>
                  <a:pt x="29766" y="0"/>
                </a:lnTo>
                <a:close/>
                <a:moveTo>
                  <a:pt x="110846" y="54570"/>
                </a:moveTo>
                <a:lnTo>
                  <a:pt x="81855" y="54570"/>
                </a:lnTo>
                <a:cubicBezTo>
                  <a:pt x="77732" y="54570"/>
                  <a:pt x="74414" y="51253"/>
                  <a:pt x="74414" y="47129"/>
                </a:cubicBezTo>
                <a:lnTo>
                  <a:pt x="74414" y="18138"/>
                </a:lnTo>
                <a:lnTo>
                  <a:pt x="110846" y="54570"/>
                </a:lnTo>
                <a:close/>
                <a:moveTo>
                  <a:pt x="81855" y="117822"/>
                </a:moveTo>
                <a:cubicBezTo>
                  <a:pt x="74321" y="117822"/>
                  <a:pt x="68213" y="123930"/>
                  <a:pt x="68213" y="131465"/>
                </a:cubicBezTo>
                <a:lnTo>
                  <a:pt x="68213" y="156270"/>
                </a:lnTo>
                <a:cubicBezTo>
                  <a:pt x="68213" y="163804"/>
                  <a:pt x="74321" y="169912"/>
                  <a:pt x="81855" y="169912"/>
                </a:cubicBezTo>
                <a:lnTo>
                  <a:pt x="86816" y="169912"/>
                </a:lnTo>
                <a:cubicBezTo>
                  <a:pt x="94351" y="169912"/>
                  <a:pt x="100459" y="163804"/>
                  <a:pt x="100459" y="156270"/>
                </a:cubicBezTo>
                <a:lnTo>
                  <a:pt x="100459" y="153789"/>
                </a:lnTo>
                <a:cubicBezTo>
                  <a:pt x="100459" y="150378"/>
                  <a:pt x="97668" y="147588"/>
                  <a:pt x="94258" y="147588"/>
                </a:cubicBezTo>
                <a:cubicBezTo>
                  <a:pt x="90847" y="147588"/>
                  <a:pt x="88057" y="150378"/>
                  <a:pt x="88057" y="153789"/>
                </a:cubicBezTo>
                <a:lnTo>
                  <a:pt x="88057" y="156270"/>
                </a:lnTo>
                <a:cubicBezTo>
                  <a:pt x="88057" y="156952"/>
                  <a:pt x="87499" y="157510"/>
                  <a:pt x="86816" y="157510"/>
                </a:cubicBezTo>
                <a:lnTo>
                  <a:pt x="81855" y="157510"/>
                </a:lnTo>
                <a:cubicBezTo>
                  <a:pt x="81173" y="157510"/>
                  <a:pt x="80615" y="156952"/>
                  <a:pt x="80615" y="156270"/>
                </a:cubicBezTo>
                <a:lnTo>
                  <a:pt x="80615" y="131465"/>
                </a:lnTo>
                <a:cubicBezTo>
                  <a:pt x="80615" y="130783"/>
                  <a:pt x="81173" y="130225"/>
                  <a:pt x="81855" y="130225"/>
                </a:cubicBezTo>
                <a:lnTo>
                  <a:pt x="86816" y="130225"/>
                </a:lnTo>
                <a:cubicBezTo>
                  <a:pt x="87499" y="130225"/>
                  <a:pt x="88057" y="130783"/>
                  <a:pt x="88057" y="131465"/>
                </a:cubicBezTo>
                <a:lnTo>
                  <a:pt x="88057" y="133945"/>
                </a:lnTo>
                <a:cubicBezTo>
                  <a:pt x="88057" y="137356"/>
                  <a:pt x="90847" y="140146"/>
                  <a:pt x="94258" y="140146"/>
                </a:cubicBezTo>
                <a:cubicBezTo>
                  <a:pt x="97668" y="140146"/>
                  <a:pt x="100459" y="137356"/>
                  <a:pt x="100459" y="133945"/>
                </a:cubicBezTo>
                <a:lnTo>
                  <a:pt x="100459" y="131465"/>
                </a:lnTo>
                <a:cubicBezTo>
                  <a:pt x="100459" y="123930"/>
                  <a:pt x="94351" y="117822"/>
                  <a:pt x="86816" y="117822"/>
                </a:cubicBezTo>
                <a:lnTo>
                  <a:pt x="81855" y="117822"/>
                </a:lnTo>
                <a:close/>
                <a:moveTo>
                  <a:pt x="124023" y="117822"/>
                </a:moveTo>
                <a:cubicBezTo>
                  <a:pt x="115125" y="117822"/>
                  <a:pt x="107900" y="125047"/>
                  <a:pt x="107900" y="133945"/>
                </a:cubicBezTo>
                <a:cubicBezTo>
                  <a:pt x="107900" y="142844"/>
                  <a:pt x="115125" y="150068"/>
                  <a:pt x="124023" y="150068"/>
                </a:cubicBezTo>
                <a:cubicBezTo>
                  <a:pt x="126070" y="150068"/>
                  <a:pt x="127744" y="151743"/>
                  <a:pt x="127744" y="153789"/>
                </a:cubicBezTo>
                <a:cubicBezTo>
                  <a:pt x="127744" y="155835"/>
                  <a:pt x="126070" y="157510"/>
                  <a:pt x="124023" y="157510"/>
                </a:cubicBezTo>
                <a:lnTo>
                  <a:pt x="114102" y="157510"/>
                </a:lnTo>
                <a:cubicBezTo>
                  <a:pt x="110691" y="157510"/>
                  <a:pt x="107900" y="160300"/>
                  <a:pt x="107900" y="163711"/>
                </a:cubicBezTo>
                <a:cubicBezTo>
                  <a:pt x="107900" y="167122"/>
                  <a:pt x="110691" y="169912"/>
                  <a:pt x="114102" y="169912"/>
                </a:cubicBezTo>
                <a:lnTo>
                  <a:pt x="124023" y="169912"/>
                </a:lnTo>
                <a:cubicBezTo>
                  <a:pt x="132922" y="169912"/>
                  <a:pt x="140146" y="162688"/>
                  <a:pt x="140146" y="153789"/>
                </a:cubicBezTo>
                <a:cubicBezTo>
                  <a:pt x="140146" y="144890"/>
                  <a:pt x="132922" y="137666"/>
                  <a:pt x="124023" y="137666"/>
                </a:cubicBezTo>
                <a:cubicBezTo>
                  <a:pt x="121977" y="137666"/>
                  <a:pt x="120303" y="135992"/>
                  <a:pt x="120303" y="133945"/>
                </a:cubicBezTo>
                <a:cubicBezTo>
                  <a:pt x="120303" y="131899"/>
                  <a:pt x="121977" y="130225"/>
                  <a:pt x="124023" y="130225"/>
                </a:cubicBezTo>
                <a:lnTo>
                  <a:pt x="131465" y="130225"/>
                </a:lnTo>
                <a:cubicBezTo>
                  <a:pt x="134875" y="130225"/>
                  <a:pt x="137666" y="127434"/>
                  <a:pt x="137666" y="124023"/>
                </a:cubicBezTo>
                <a:cubicBezTo>
                  <a:pt x="137666" y="120613"/>
                  <a:pt x="134875" y="117822"/>
                  <a:pt x="131465" y="117822"/>
                </a:cubicBezTo>
                <a:lnTo>
                  <a:pt x="124023" y="117822"/>
                </a:lnTo>
                <a:close/>
                <a:moveTo>
                  <a:pt x="153789" y="117822"/>
                </a:moveTo>
                <a:cubicBezTo>
                  <a:pt x="150378" y="117822"/>
                  <a:pt x="147588" y="120613"/>
                  <a:pt x="147588" y="124023"/>
                </a:cubicBezTo>
                <a:lnTo>
                  <a:pt x="147588" y="133821"/>
                </a:lnTo>
                <a:cubicBezTo>
                  <a:pt x="147588" y="144828"/>
                  <a:pt x="150844" y="155618"/>
                  <a:pt x="156952" y="164765"/>
                </a:cubicBezTo>
                <a:lnTo>
                  <a:pt x="158533" y="167153"/>
                </a:lnTo>
                <a:cubicBezTo>
                  <a:pt x="159680" y="168889"/>
                  <a:pt x="161634" y="169912"/>
                  <a:pt x="163680" y="169912"/>
                </a:cubicBezTo>
                <a:cubicBezTo>
                  <a:pt x="165726" y="169912"/>
                  <a:pt x="167680" y="168889"/>
                  <a:pt x="168827" y="167153"/>
                </a:cubicBezTo>
                <a:lnTo>
                  <a:pt x="170408" y="164765"/>
                </a:lnTo>
                <a:cubicBezTo>
                  <a:pt x="176516" y="155587"/>
                  <a:pt x="179772" y="144828"/>
                  <a:pt x="179772" y="133821"/>
                </a:cubicBezTo>
                <a:lnTo>
                  <a:pt x="179772" y="124023"/>
                </a:lnTo>
                <a:cubicBezTo>
                  <a:pt x="179772" y="120613"/>
                  <a:pt x="176981" y="117822"/>
                  <a:pt x="173571" y="117822"/>
                </a:cubicBezTo>
                <a:cubicBezTo>
                  <a:pt x="170160" y="117822"/>
                  <a:pt x="167370" y="120613"/>
                  <a:pt x="167370" y="124023"/>
                </a:cubicBezTo>
                <a:lnTo>
                  <a:pt x="167370" y="133821"/>
                </a:lnTo>
                <a:cubicBezTo>
                  <a:pt x="167370" y="139898"/>
                  <a:pt x="166098" y="145883"/>
                  <a:pt x="163649" y="151402"/>
                </a:cubicBezTo>
                <a:cubicBezTo>
                  <a:pt x="161199" y="145883"/>
                  <a:pt x="159928" y="139898"/>
                  <a:pt x="159928" y="133821"/>
                </a:cubicBezTo>
                <a:lnTo>
                  <a:pt x="159928" y="124023"/>
                </a:lnTo>
                <a:cubicBezTo>
                  <a:pt x="159928" y="120613"/>
                  <a:pt x="157138" y="117822"/>
                  <a:pt x="153727" y="11782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8912" y="1244602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Bulk Creation from CSV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40475" y="1562102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multiple reservations at once from a CSV file: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0475" y="1816102"/>
            <a:ext cx="5365750" cy="1936750"/>
          </a:xfrm>
          <a:custGeom>
            <a:avLst/>
            <a:gdLst/>
            <a:ahLst/>
            <a:cxnLst/>
            <a:rect l="l" t="t" r="r" b="b"/>
            <a:pathLst>
              <a:path w="5365750" h="1936750">
                <a:moveTo>
                  <a:pt x="63506" y="0"/>
                </a:moveTo>
                <a:lnTo>
                  <a:pt x="5302244" y="0"/>
                </a:lnTo>
                <a:cubicBezTo>
                  <a:pt x="5337317" y="0"/>
                  <a:pt x="5365750" y="28433"/>
                  <a:pt x="5365750" y="63506"/>
                </a:cubicBezTo>
                <a:lnTo>
                  <a:pt x="5365750" y="1873244"/>
                </a:lnTo>
                <a:cubicBezTo>
                  <a:pt x="5365750" y="1908317"/>
                  <a:pt x="5337317" y="1936750"/>
                  <a:pt x="5302244" y="1936750"/>
                </a:cubicBezTo>
                <a:lnTo>
                  <a:pt x="63506" y="1936750"/>
                </a:lnTo>
                <a:cubicBezTo>
                  <a:pt x="28433" y="1936750"/>
                  <a:pt x="0" y="1908317"/>
                  <a:pt x="0" y="1873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37474F"/>
          </a:solidFill>
          <a:ln/>
        </p:spPr>
      </p:sp>
      <p:sp>
        <p:nvSpPr>
          <p:cNvPr id="30" name="Text 28"/>
          <p:cNvSpPr/>
          <p:nvPr/>
        </p:nvSpPr>
        <p:spPr>
          <a:xfrm>
            <a:off x="6467475" y="1943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Import-Csv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-Path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"C:\reservations.csv"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`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7475" y="2133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ForEach-Object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7475" y="2324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7475" y="2514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475" y="2705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-IPAddress $_.IPAddress `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67475" y="2895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-ClientId $_.MAC `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7475" y="3086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-Name $_.Name `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7475" y="32766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-Description $_.Description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7475" y="3467102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8550" y="4048126"/>
            <a:ext cx="5689600" cy="2990850"/>
          </a:xfrm>
          <a:custGeom>
            <a:avLst/>
            <a:gdLst/>
            <a:ahLst/>
            <a:cxnLst/>
            <a:rect l="l" t="t" r="r" b="b"/>
            <a:pathLst>
              <a:path w="5689600" h="2990850">
                <a:moveTo>
                  <a:pt x="95259" y="0"/>
                </a:moveTo>
                <a:lnTo>
                  <a:pt x="5594341" y="0"/>
                </a:lnTo>
                <a:cubicBezTo>
                  <a:pt x="5646951" y="0"/>
                  <a:pt x="5689600" y="42649"/>
                  <a:pt x="5689600" y="95259"/>
                </a:cubicBezTo>
                <a:lnTo>
                  <a:pt x="5689600" y="2895591"/>
                </a:lnTo>
                <a:cubicBezTo>
                  <a:pt x="5689600" y="2948201"/>
                  <a:pt x="5646951" y="2990850"/>
                  <a:pt x="5594341" y="2990850"/>
                </a:cubicBezTo>
                <a:lnTo>
                  <a:pt x="95259" y="2990850"/>
                </a:lnTo>
                <a:cubicBezTo>
                  <a:pt x="42649" y="2990850"/>
                  <a:pt x="0" y="2948201"/>
                  <a:pt x="0" y="2895591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0241" y="4241799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42385" y="1829"/>
                </a:moveTo>
                <a:cubicBezTo>
                  <a:pt x="43749" y="-2232"/>
                  <a:pt x="47532" y="-4961"/>
                  <a:pt x="51811" y="-4961"/>
                </a:cubicBezTo>
                <a:lnTo>
                  <a:pt x="87126" y="-4961"/>
                </a:lnTo>
                <a:cubicBezTo>
                  <a:pt x="91405" y="-4961"/>
                  <a:pt x="95188" y="-2232"/>
                  <a:pt x="96552" y="1829"/>
                </a:cubicBezTo>
                <a:lnTo>
                  <a:pt x="99219" y="9922"/>
                </a:lnTo>
                <a:lnTo>
                  <a:pt x="128984" y="9922"/>
                </a:lnTo>
                <a:cubicBezTo>
                  <a:pt x="134472" y="9922"/>
                  <a:pt x="138906" y="14356"/>
                  <a:pt x="138906" y="19844"/>
                </a:cubicBezTo>
                <a:cubicBezTo>
                  <a:pt x="138906" y="25332"/>
                  <a:pt x="134472" y="29766"/>
                  <a:pt x="128984" y="29766"/>
                </a:cubicBezTo>
                <a:lnTo>
                  <a:pt x="9922" y="29766"/>
                </a:lnTo>
                <a:cubicBezTo>
                  <a:pt x="4434" y="29766"/>
                  <a:pt x="0" y="25332"/>
                  <a:pt x="0" y="19844"/>
                </a:cubicBezTo>
                <a:cubicBezTo>
                  <a:pt x="0" y="14356"/>
                  <a:pt x="4434" y="9922"/>
                  <a:pt x="9922" y="9922"/>
                </a:cubicBezTo>
                <a:lnTo>
                  <a:pt x="39688" y="9922"/>
                </a:lnTo>
                <a:lnTo>
                  <a:pt x="42385" y="1829"/>
                </a:lnTo>
                <a:close/>
                <a:moveTo>
                  <a:pt x="9922" y="44648"/>
                </a:moveTo>
                <a:lnTo>
                  <a:pt x="128984" y="44648"/>
                </a:lnTo>
                <a:lnTo>
                  <a:pt x="128984" y="138906"/>
                </a:lnTo>
                <a:cubicBezTo>
                  <a:pt x="128984" y="149851"/>
                  <a:pt x="120086" y="158750"/>
                  <a:pt x="109141" y="158750"/>
                </a:cubicBezTo>
                <a:lnTo>
                  <a:pt x="29766" y="158750"/>
                </a:lnTo>
                <a:cubicBezTo>
                  <a:pt x="18821" y="158750"/>
                  <a:pt x="9922" y="149851"/>
                  <a:pt x="9922" y="138906"/>
                </a:cubicBezTo>
                <a:lnTo>
                  <a:pt x="9922" y="44648"/>
                </a:lnTo>
                <a:close/>
                <a:moveTo>
                  <a:pt x="37207" y="64492"/>
                </a:moveTo>
                <a:cubicBezTo>
                  <a:pt x="33083" y="64492"/>
                  <a:pt x="29766" y="67810"/>
                  <a:pt x="29766" y="71934"/>
                </a:cubicBezTo>
                <a:lnTo>
                  <a:pt x="29766" y="131465"/>
                </a:lnTo>
                <a:cubicBezTo>
                  <a:pt x="29766" y="135589"/>
                  <a:pt x="33083" y="138906"/>
                  <a:pt x="37207" y="138906"/>
                </a:cubicBezTo>
                <a:cubicBezTo>
                  <a:pt x="41331" y="138906"/>
                  <a:pt x="44648" y="135589"/>
                  <a:pt x="44648" y="131465"/>
                </a:cubicBezTo>
                <a:lnTo>
                  <a:pt x="44648" y="71934"/>
                </a:lnTo>
                <a:cubicBezTo>
                  <a:pt x="44648" y="67810"/>
                  <a:pt x="41331" y="64492"/>
                  <a:pt x="37207" y="64492"/>
                </a:cubicBezTo>
                <a:close/>
                <a:moveTo>
                  <a:pt x="69453" y="64492"/>
                </a:moveTo>
                <a:cubicBezTo>
                  <a:pt x="65329" y="64492"/>
                  <a:pt x="62012" y="67810"/>
                  <a:pt x="62012" y="71934"/>
                </a:cubicBezTo>
                <a:lnTo>
                  <a:pt x="62012" y="131465"/>
                </a:lnTo>
                <a:cubicBezTo>
                  <a:pt x="62012" y="135589"/>
                  <a:pt x="65329" y="138906"/>
                  <a:pt x="69453" y="138906"/>
                </a:cubicBezTo>
                <a:cubicBezTo>
                  <a:pt x="73577" y="138906"/>
                  <a:pt x="76895" y="135589"/>
                  <a:pt x="76895" y="131465"/>
                </a:cubicBezTo>
                <a:lnTo>
                  <a:pt x="76895" y="71934"/>
                </a:lnTo>
                <a:cubicBezTo>
                  <a:pt x="76895" y="67810"/>
                  <a:pt x="73577" y="64492"/>
                  <a:pt x="69453" y="64492"/>
                </a:cubicBezTo>
                <a:close/>
                <a:moveTo>
                  <a:pt x="101699" y="64492"/>
                </a:moveTo>
                <a:cubicBezTo>
                  <a:pt x="97575" y="64492"/>
                  <a:pt x="94258" y="67810"/>
                  <a:pt x="94258" y="71934"/>
                </a:cubicBezTo>
                <a:lnTo>
                  <a:pt x="94258" y="131465"/>
                </a:lnTo>
                <a:cubicBezTo>
                  <a:pt x="94258" y="135589"/>
                  <a:pt x="97575" y="138906"/>
                  <a:pt x="101699" y="138906"/>
                </a:cubicBezTo>
                <a:cubicBezTo>
                  <a:pt x="105823" y="138906"/>
                  <a:pt x="109141" y="135589"/>
                  <a:pt x="109141" y="131465"/>
                </a:cubicBezTo>
                <a:lnTo>
                  <a:pt x="109141" y="71934"/>
                </a:lnTo>
                <a:cubicBezTo>
                  <a:pt x="109141" y="67810"/>
                  <a:pt x="105823" y="64492"/>
                  <a:pt x="101699" y="6449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41" name="Text 39"/>
          <p:cNvSpPr/>
          <p:nvPr/>
        </p:nvSpPr>
        <p:spPr>
          <a:xfrm>
            <a:off x="6538912" y="4210049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Reservations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0475" y="4527549"/>
            <a:ext cx="5365750" cy="2349500"/>
          </a:xfrm>
          <a:custGeom>
            <a:avLst/>
            <a:gdLst/>
            <a:ahLst/>
            <a:cxnLst/>
            <a:rect l="l" t="t" r="r" b="b"/>
            <a:pathLst>
              <a:path w="5365750" h="2349500">
                <a:moveTo>
                  <a:pt x="63507" y="0"/>
                </a:moveTo>
                <a:lnTo>
                  <a:pt x="5302243" y="0"/>
                </a:lnTo>
                <a:cubicBezTo>
                  <a:pt x="5337317" y="0"/>
                  <a:pt x="5365750" y="28433"/>
                  <a:pt x="5365750" y="63507"/>
                </a:cubicBezTo>
                <a:lnTo>
                  <a:pt x="5365750" y="2285993"/>
                </a:lnTo>
                <a:cubicBezTo>
                  <a:pt x="5365750" y="2321067"/>
                  <a:pt x="5337317" y="2349500"/>
                  <a:pt x="5302243" y="2349500"/>
                </a:cubicBezTo>
                <a:lnTo>
                  <a:pt x="63507" y="2349500"/>
                </a:lnTo>
                <a:cubicBezTo>
                  <a:pt x="28433" y="2349500"/>
                  <a:pt x="0" y="2321067"/>
                  <a:pt x="0" y="2285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37474F"/>
          </a:solidFill>
          <a:ln/>
        </p:spPr>
      </p:sp>
      <p:sp>
        <p:nvSpPr>
          <p:cNvPr id="43" name="Text 41"/>
          <p:cNvSpPr/>
          <p:nvPr/>
        </p:nvSpPr>
        <p:spPr>
          <a:xfrm>
            <a:off x="6467475" y="4667250"/>
            <a:ext cx="139977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Remove by IP address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7475" y="484504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67475" y="503554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67475" y="522604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-IPAddress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192.168.1.50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67475" y="5461000"/>
            <a:ext cx="158303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Remove multiple at once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67475" y="56387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"192.168.1.50"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"192.168.1.51"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| `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67475" y="58292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ForEach-Object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67475" y="60197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Remove-DhcpServerv4Reservation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67475" y="62102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-ScopeId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F70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`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67475" y="64007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-IPAddress $_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67475" y="6591299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CEF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0675" y="7172327"/>
            <a:ext cx="11547475" cy="958850"/>
          </a:xfrm>
          <a:custGeom>
            <a:avLst/>
            <a:gdLst/>
            <a:ahLst/>
            <a:cxnLst/>
            <a:rect l="l" t="t" r="r" b="b"/>
            <a:pathLst>
              <a:path w="11547475" h="958850">
                <a:moveTo>
                  <a:pt x="95252" y="0"/>
                </a:moveTo>
                <a:lnTo>
                  <a:pt x="11452223" y="0"/>
                </a:lnTo>
                <a:cubicBezTo>
                  <a:pt x="11504829" y="0"/>
                  <a:pt x="11547475" y="42646"/>
                  <a:pt x="11547475" y="95252"/>
                </a:cubicBezTo>
                <a:lnTo>
                  <a:pt x="11547475" y="863598"/>
                </a:lnTo>
                <a:cubicBezTo>
                  <a:pt x="11547475" y="916204"/>
                  <a:pt x="11504829" y="958850"/>
                  <a:pt x="11452223" y="958850"/>
                </a:cubicBezTo>
                <a:lnTo>
                  <a:pt x="95252" y="958850"/>
                </a:lnTo>
                <a:cubicBezTo>
                  <a:pt x="42646" y="958850"/>
                  <a:pt x="0" y="916204"/>
                  <a:pt x="0" y="863598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4662" y="730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15975" y="7302500"/>
            <a:ext cx="1099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PowerShell?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5975" y="7588250"/>
            <a:ext cx="10985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PowerShell enables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automation, bulk operations, and repeatable deployments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Perfect for enterprise environments where you need to configure dozens or hundreds of reservations consistently. Scripts can be version-controlled and deployed across multiple DHCP servers.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622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spc="55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629716"/>
            <a:ext cx="1170222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334" y="1189463"/>
            <a:ext cx="5658697" cy="1276924"/>
          </a:xfrm>
          <a:custGeom>
            <a:avLst/>
            <a:gdLst/>
            <a:ahLst/>
            <a:cxnLst/>
            <a:rect l="l" t="t" r="r" b="b"/>
            <a:pathLst>
              <a:path w="5658697" h="1276924">
                <a:moveTo>
                  <a:pt x="34984" y="0"/>
                </a:moveTo>
                <a:lnTo>
                  <a:pt x="5553747" y="0"/>
                </a:lnTo>
                <a:cubicBezTo>
                  <a:pt x="5611709" y="0"/>
                  <a:pt x="5658697" y="46988"/>
                  <a:pt x="5658697" y="104950"/>
                </a:cubicBezTo>
                <a:lnTo>
                  <a:pt x="5658697" y="1171974"/>
                </a:lnTo>
                <a:cubicBezTo>
                  <a:pt x="5658697" y="1229936"/>
                  <a:pt x="5611709" y="1276924"/>
                  <a:pt x="5553747" y="1276924"/>
                </a:cubicBez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7334" y="1189463"/>
            <a:ext cx="34984" cy="1276924"/>
          </a:xfrm>
          <a:custGeom>
            <a:avLst/>
            <a:gdLst/>
            <a:ahLst/>
            <a:cxnLst/>
            <a:rect l="l" t="t" r="r" b="b"/>
            <a:pathLst>
              <a:path w="34984" h="1276924">
                <a:moveTo>
                  <a:pt x="34984" y="0"/>
                </a:moveTo>
                <a:lnTo>
                  <a:pt x="34984" y="0"/>
                </a:lnTo>
                <a:lnTo>
                  <a:pt x="34984" y="1276924"/>
                </a:ln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Shape 4"/>
          <p:cNvSpPr/>
          <p:nvPr/>
        </p:nvSpPr>
        <p:spPr>
          <a:xfrm>
            <a:off x="524763" y="1329400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3156" y="1425607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71489" y="1599"/>
                </a:moveTo>
                <a:cubicBezTo>
                  <a:pt x="76070" y="-523"/>
                  <a:pt x="81359" y="-523"/>
                  <a:pt x="85940" y="1599"/>
                </a:cubicBezTo>
                <a:lnTo>
                  <a:pt x="153155" y="32654"/>
                </a:lnTo>
                <a:cubicBezTo>
                  <a:pt x="155769" y="33853"/>
                  <a:pt x="157429" y="36467"/>
                  <a:pt x="157429" y="39357"/>
                </a:cubicBezTo>
                <a:cubicBezTo>
                  <a:pt x="157429" y="42248"/>
                  <a:pt x="155769" y="44861"/>
                  <a:pt x="153155" y="46060"/>
                </a:cubicBezTo>
                <a:lnTo>
                  <a:pt x="85940" y="77116"/>
                </a:lnTo>
                <a:cubicBezTo>
                  <a:pt x="81359" y="79237"/>
                  <a:pt x="76070" y="79237"/>
                  <a:pt x="71489" y="77116"/>
                </a:cubicBezTo>
                <a:lnTo>
                  <a:pt x="4274" y="46060"/>
                </a:lnTo>
                <a:cubicBezTo>
                  <a:pt x="1660" y="44830"/>
                  <a:pt x="0" y="42217"/>
                  <a:pt x="0" y="39357"/>
                </a:cubicBezTo>
                <a:cubicBezTo>
                  <a:pt x="0" y="36498"/>
                  <a:pt x="1660" y="33853"/>
                  <a:pt x="4274" y="32654"/>
                </a:cubicBezTo>
                <a:lnTo>
                  <a:pt x="71489" y="1599"/>
                </a:lnTo>
                <a:close/>
                <a:moveTo>
                  <a:pt x="14790" y="67153"/>
                </a:moveTo>
                <a:lnTo>
                  <a:pt x="65308" y="90491"/>
                </a:lnTo>
                <a:cubicBezTo>
                  <a:pt x="73826" y="94427"/>
                  <a:pt x="83634" y="94427"/>
                  <a:pt x="92151" y="90491"/>
                </a:cubicBezTo>
                <a:lnTo>
                  <a:pt x="142670" y="67153"/>
                </a:lnTo>
                <a:lnTo>
                  <a:pt x="153155" y="72011"/>
                </a:lnTo>
                <a:cubicBezTo>
                  <a:pt x="155769" y="73211"/>
                  <a:pt x="157429" y="75824"/>
                  <a:pt x="157429" y="78714"/>
                </a:cubicBezTo>
                <a:cubicBezTo>
                  <a:pt x="157429" y="81605"/>
                  <a:pt x="155769" y="84218"/>
                  <a:pt x="153155" y="85418"/>
                </a:cubicBezTo>
                <a:lnTo>
                  <a:pt x="85940" y="116473"/>
                </a:lnTo>
                <a:cubicBezTo>
                  <a:pt x="81359" y="118594"/>
                  <a:pt x="76070" y="118594"/>
                  <a:pt x="71489" y="116473"/>
                </a:cubicBezTo>
                <a:lnTo>
                  <a:pt x="4274" y="85418"/>
                </a:lnTo>
                <a:cubicBezTo>
                  <a:pt x="1660" y="84188"/>
                  <a:pt x="0" y="81574"/>
                  <a:pt x="0" y="78714"/>
                </a:cubicBezTo>
                <a:cubicBezTo>
                  <a:pt x="0" y="75855"/>
                  <a:pt x="1660" y="73211"/>
                  <a:pt x="4274" y="72011"/>
                </a:cubicBezTo>
                <a:lnTo>
                  <a:pt x="14759" y="67153"/>
                </a:lnTo>
                <a:close/>
                <a:moveTo>
                  <a:pt x="4274" y="111369"/>
                </a:moveTo>
                <a:lnTo>
                  <a:pt x="14759" y="106511"/>
                </a:lnTo>
                <a:lnTo>
                  <a:pt x="65278" y="129848"/>
                </a:lnTo>
                <a:cubicBezTo>
                  <a:pt x="73795" y="133784"/>
                  <a:pt x="83603" y="133784"/>
                  <a:pt x="92121" y="129848"/>
                </a:cubicBezTo>
                <a:lnTo>
                  <a:pt x="142639" y="106511"/>
                </a:lnTo>
                <a:lnTo>
                  <a:pt x="153124" y="111369"/>
                </a:lnTo>
                <a:cubicBezTo>
                  <a:pt x="155738" y="112568"/>
                  <a:pt x="157398" y="115181"/>
                  <a:pt x="157398" y="118072"/>
                </a:cubicBezTo>
                <a:cubicBezTo>
                  <a:pt x="157398" y="120962"/>
                  <a:pt x="155738" y="123576"/>
                  <a:pt x="153124" y="124775"/>
                </a:cubicBezTo>
                <a:lnTo>
                  <a:pt x="85909" y="155830"/>
                </a:lnTo>
                <a:cubicBezTo>
                  <a:pt x="81328" y="157952"/>
                  <a:pt x="76039" y="157952"/>
                  <a:pt x="71458" y="155830"/>
                </a:cubicBezTo>
                <a:lnTo>
                  <a:pt x="4274" y="124775"/>
                </a:lnTo>
                <a:cubicBezTo>
                  <a:pt x="1660" y="123545"/>
                  <a:pt x="0" y="120931"/>
                  <a:pt x="0" y="118072"/>
                </a:cubicBezTo>
                <a:cubicBezTo>
                  <a:pt x="0" y="115212"/>
                  <a:pt x="1660" y="112568"/>
                  <a:pt x="4274" y="11136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979558" y="1329400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Separate Address Ranges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9558" y="1644258"/>
            <a:ext cx="4976505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Reserve a block of addresses (e.g., .1–.49) for static assignments and set your DHCP scope to start above that range (e.g., .50–.254). This eliminates overlap conflicts.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2477" y="1189463"/>
            <a:ext cx="5658697" cy="1276924"/>
          </a:xfrm>
          <a:custGeom>
            <a:avLst/>
            <a:gdLst/>
            <a:ahLst/>
            <a:cxnLst/>
            <a:rect l="l" t="t" r="r" b="b"/>
            <a:pathLst>
              <a:path w="5658697" h="1276924">
                <a:moveTo>
                  <a:pt x="34984" y="0"/>
                </a:moveTo>
                <a:lnTo>
                  <a:pt x="5553747" y="0"/>
                </a:lnTo>
                <a:cubicBezTo>
                  <a:pt x="5611709" y="0"/>
                  <a:pt x="5658697" y="46988"/>
                  <a:pt x="5658697" y="104950"/>
                </a:cubicBezTo>
                <a:lnTo>
                  <a:pt x="5658697" y="1171974"/>
                </a:lnTo>
                <a:cubicBezTo>
                  <a:pt x="5658697" y="1229936"/>
                  <a:pt x="5611709" y="1276924"/>
                  <a:pt x="5553747" y="1276924"/>
                </a:cubicBez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82477" y="1189463"/>
            <a:ext cx="34984" cy="1276924"/>
          </a:xfrm>
          <a:custGeom>
            <a:avLst/>
            <a:gdLst/>
            <a:ahLst/>
            <a:cxnLst/>
            <a:rect l="l" t="t" r="r" b="b"/>
            <a:pathLst>
              <a:path w="34984" h="1276924">
                <a:moveTo>
                  <a:pt x="34984" y="0"/>
                </a:moveTo>
                <a:lnTo>
                  <a:pt x="34984" y="0"/>
                </a:lnTo>
                <a:lnTo>
                  <a:pt x="34984" y="1276924"/>
                </a:ln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9906" y="1329400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48138" y="1425607"/>
            <a:ext cx="137750" cy="157429"/>
          </a:xfrm>
          <a:custGeom>
            <a:avLst/>
            <a:gdLst/>
            <a:ahLst/>
            <a:cxnLst/>
            <a:rect l="l" t="t" r="r" b="b"/>
            <a:pathLst>
              <a:path w="137750" h="157429">
                <a:moveTo>
                  <a:pt x="19679" y="9839"/>
                </a:moveTo>
                <a:cubicBezTo>
                  <a:pt x="8825" y="9839"/>
                  <a:pt x="0" y="18664"/>
                  <a:pt x="0" y="29518"/>
                </a:cubicBezTo>
                <a:lnTo>
                  <a:pt x="0" y="49197"/>
                </a:lnTo>
                <a:cubicBezTo>
                  <a:pt x="0" y="60051"/>
                  <a:pt x="8825" y="68875"/>
                  <a:pt x="19679" y="68875"/>
                </a:cubicBezTo>
                <a:lnTo>
                  <a:pt x="118072" y="68875"/>
                </a:lnTo>
                <a:cubicBezTo>
                  <a:pt x="128926" y="68875"/>
                  <a:pt x="137750" y="60051"/>
                  <a:pt x="137750" y="49197"/>
                </a:cubicBezTo>
                <a:lnTo>
                  <a:pt x="137750" y="29518"/>
                </a:lnTo>
                <a:cubicBezTo>
                  <a:pt x="137750" y="18664"/>
                  <a:pt x="128926" y="9839"/>
                  <a:pt x="118072" y="9839"/>
                </a:cubicBezTo>
                <a:lnTo>
                  <a:pt x="19679" y="9839"/>
                </a:lnTo>
                <a:close/>
                <a:moveTo>
                  <a:pt x="86094" y="31978"/>
                </a:moveTo>
                <a:cubicBezTo>
                  <a:pt x="90167" y="31978"/>
                  <a:pt x="93473" y="35284"/>
                  <a:pt x="93473" y="39357"/>
                </a:cubicBezTo>
                <a:cubicBezTo>
                  <a:pt x="93473" y="43430"/>
                  <a:pt x="90167" y="46737"/>
                  <a:pt x="86094" y="46737"/>
                </a:cubicBezTo>
                <a:cubicBezTo>
                  <a:pt x="82021" y="46737"/>
                  <a:pt x="78714" y="43430"/>
                  <a:pt x="78714" y="39357"/>
                </a:cubicBezTo>
                <a:cubicBezTo>
                  <a:pt x="78714" y="35284"/>
                  <a:pt x="82021" y="31978"/>
                  <a:pt x="86094" y="31978"/>
                </a:cubicBezTo>
                <a:close/>
                <a:moveTo>
                  <a:pt x="103313" y="39357"/>
                </a:moveTo>
                <a:cubicBezTo>
                  <a:pt x="103313" y="35284"/>
                  <a:pt x="106619" y="31978"/>
                  <a:pt x="110692" y="31978"/>
                </a:cubicBezTo>
                <a:cubicBezTo>
                  <a:pt x="114765" y="31978"/>
                  <a:pt x="118072" y="35284"/>
                  <a:pt x="118072" y="39357"/>
                </a:cubicBezTo>
                <a:cubicBezTo>
                  <a:pt x="118072" y="43430"/>
                  <a:pt x="114765" y="46737"/>
                  <a:pt x="110692" y="46737"/>
                </a:cubicBezTo>
                <a:cubicBezTo>
                  <a:pt x="106619" y="46737"/>
                  <a:pt x="103313" y="43430"/>
                  <a:pt x="103313" y="39357"/>
                </a:cubicBezTo>
                <a:close/>
                <a:moveTo>
                  <a:pt x="19679" y="88554"/>
                </a:moveTo>
                <a:cubicBezTo>
                  <a:pt x="8825" y="88554"/>
                  <a:pt x="0" y="97378"/>
                  <a:pt x="0" y="108232"/>
                </a:cubicBezTo>
                <a:lnTo>
                  <a:pt x="0" y="127911"/>
                </a:lnTo>
                <a:cubicBezTo>
                  <a:pt x="0" y="138765"/>
                  <a:pt x="8825" y="147590"/>
                  <a:pt x="19679" y="147590"/>
                </a:cubicBezTo>
                <a:lnTo>
                  <a:pt x="118072" y="147590"/>
                </a:lnTo>
                <a:cubicBezTo>
                  <a:pt x="128926" y="147590"/>
                  <a:pt x="137750" y="138765"/>
                  <a:pt x="137750" y="127911"/>
                </a:cubicBezTo>
                <a:lnTo>
                  <a:pt x="137750" y="108232"/>
                </a:lnTo>
                <a:cubicBezTo>
                  <a:pt x="137750" y="97378"/>
                  <a:pt x="128926" y="88554"/>
                  <a:pt x="118072" y="88554"/>
                </a:cubicBezTo>
                <a:lnTo>
                  <a:pt x="19679" y="88554"/>
                </a:lnTo>
                <a:close/>
                <a:moveTo>
                  <a:pt x="86094" y="110692"/>
                </a:moveTo>
                <a:cubicBezTo>
                  <a:pt x="90167" y="110692"/>
                  <a:pt x="93473" y="113999"/>
                  <a:pt x="93473" y="118072"/>
                </a:cubicBezTo>
                <a:cubicBezTo>
                  <a:pt x="93473" y="122145"/>
                  <a:pt x="90167" y="125451"/>
                  <a:pt x="86094" y="125451"/>
                </a:cubicBezTo>
                <a:cubicBezTo>
                  <a:pt x="82021" y="125451"/>
                  <a:pt x="78714" y="122145"/>
                  <a:pt x="78714" y="118072"/>
                </a:cubicBezTo>
                <a:cubicBezTo>
                  <a:pt x="78714" y="113999"/>
                  <a:pt x="82021" y="110692"/>
                  <a:pt x="86094" y="110692"/>
                </a:cubicBezTo>
                <a:close/>
                <a:moveTo>
                  <a:pt x="103313" y="118072"/>
                </a:moveTo>
                <a:cubicBezTo>
                  <a:pt x="103313" y="113999"/>
                  <a:pt x="106619" y="110692"/>
                  <a:pt x="110692" y="110692"/>
                </a:cubicBezTo>
                <a:cubicBezTo>
                  <a:pt x="114765" y="110692"/>
                  <a:pt x="118072" y="113999"/>
                  <a:pt x="118072" y="118072"/>
                </a:cubicBezTo>
                <a:cubicBezTo>
                  <a:pt x="118072" y="122145"/>
                  <a:pt x="114765" y="125451"/>
                  <a:pt x="110692" y="125451"/>
                </a:cubicBezTo>
                <a:cubicBezTo>
                  <a:pt x="106619" y="125451"/>
                  <a:pt x="103313" y="122145"/>
                  <a:pt x="103313" y="118072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14" name="Text 12"/>
          <p:cNvSpPr/>
          <p:nvPr/>
        </p:nvSpPr>
        <p:spPr>
          <a:xfrm>
            <a:off x="6794701" y="1329400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Reservations for Servers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4701" y="1644258"/>
            <a:ext cx="4976505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use reservations for critical servers rather than allowing fully dynamic assignment. This ensures predictable addressing while maintaining centralized management.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7334" y="2606324"/>
            <a:ext cx="5658697" cy="1049527"/>
          </a:xfrm>
          <a:custGeom>
            <a:avLst/>
            <a:gdLst/>
            <a:ahLst/>
            <a:cxnLst/>
            <a:rect l="l" t="t" r="r" b="b"/>
            <a:pathLst>
              <a:path w="5658697" h="1049527">
                <a:moveTo>
                  <a:pt x="34984" y="0"/>
                </a:moveTo>
                <a:lnTo>
                  <a:pt x="5553745" y="0"/>
                </a:lnTo>
                <a:cubicBezTo>
                  <a:pt x="5611708" y="0"/>
                  <a:pt x="5658697" y="46989"/>
                  <a:pt x="5658697" y="104953"/>
                </a:cubicBezTo>
                <a:lnTo>
                  <a:pt x="5658697" y="944574"/>
                </a:lnTo>
                <a:cubicBezTo>
                  <a:pt x="5658697" y="1002538"/>
                  <a:pt x="5611708" y="1049527"/>
                  <a:pt x="5553745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7334" y="2606324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524763" y="2746261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23156" y="2842468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78714" y="0"/>
                </a:moveTo>
                <a:cubicBezTo>
                  <a:pt x="80129" y="0"/>
                  <a:pt x="81543" y="307"/>
                  <a:pt x="82835" y="892"/>
                </a:cubicBezTo>
                <a:lnTo>
                  <a:pt x="140764" y="25459"/>
                </a:lnTo>
                <a:cubicBezTo>
                  <a:pt x="147528" y="28319"/>
                  <a:pt x="152571" y="34991"/>
                  <a:pt x="152540" y="43047"/>
                </a:cubicBezTo>
                <a:cubicBezTo>
                  <a:pt x="152386" y="73549"/>
                  <a:pt x="139841" y="129356"/>
                  <a:pt x="86863" y="154723"/>
                </a:cubicBezTo>
                <a:cubicBezTo>
                  <a:pt x="81728" y="157183"/>
                  <a:pt x="75763" y="157183"/>
                  <a:pt x="70628" y="154723"/>
                </a:cubicBezTo>
                <a:cubicBezTo>
                  <a:pt x="17619" y="129356"/>
                  <a:pt x="5104" y="73549"/>
                  <a:pt x="4950" y="43047"/>
                </a:cubicBezTo>
                <a:cubicBezTo>
                  <a:pt x="4920" y="34991"/>
                  <a:pt x="9962" y="28319"/>
                  <a:pt x="16727" y="25459"/>
                </a:cubicBezTo>
                <a:lnTo>
                  <a:pt x="74625" y="892"/>
                </a:lnTo>
                <a:cubicBezTo>
                  <a:pt x="75916" y="307"/>
                  <a:pt x="77300" y="0"/>
                  <a:pt x="78714" y="0"/>
                </a:cubicBezTo>
                <a:close/>
                <a:moveTo>
                  <a:pt x="78714" y="20540"/>
                </a:moveTo>
                <a:lnTo>
                  <a:pt x="78714" y="136797"/>
                </a:lnTo>
                <a:cubicBezTo>
                  <a:pt x="121147" y="116258"/>
                  <a:pt x="132554" y="70751"/>
                  <a:pt x="132831" y="43508"/>
                </a:cubicBezTo>
                <a:lnTo>
                  <a:pt x="78714" y="20570"/>
                </a:lnTo>
                <a:lnTo>
                  <a:pt x="78714" y="2057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979558" y="2746261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High Availability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9558" y="3061119"/>
            <a:ext cx="4976505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DHCP servers with failover pairs or clustering technologies. DHCP failover ensures continuous, reliable service even if the primary server fails.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2477" y="2606324"/>
            <a:ext cx="5658697" cy="1049527"/>
          </a:xfrm>
          <a:custGeom>
            <a:avLst/>
            <a:gdLst/>
            <a:ahLst/>
            <a:cxnLst/>
            <a:rect l="l" t="t" r="r" b="b"/>
            <a:pathLst>
              <a:path w="5658697" h="1049527">
                <a:moveTo>
                  <a:pt x="34984" y="0"/>
                </a:moveTo>
                <a:lnTo>
                  <a:pt x="5553745" y="0"/>
                </a:lnTo>
                <a:cubicBezTo>
                  <a:pt x="5611708" y="0"/>
                  <a:pt x="5658697" y="46989"/>
                  <a:pt x="5658697" y="104953"/>
                </a:cubicBezTo>
                <a:lnTo>
                  <a:pt x="5658697" y="944574"/>
                </a:lnTo>
                <a:cubicBezTo>
                  <a:pt x="5658697" y="1002538"/>
                  <a:pt x="5611708" y="1049527"/>
                  <a:pt x="5553745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82477" y="2606324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4" name="Shape 22"/>
          <p:cNvSpPr/>
          <p:nvPr/>
        </p:nvSpPr>
        <p:spPr>
          <a:xfrm>
            <a:off x="6339906" y="2746261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48138" y="2842468"/>
            <a:ext cx="137750" cy="157429"/>
          </a:xfrm>
          <a:custGeom>
            <a:avLst/>
            <a:gdLst/>
            <a:ahLst/>
            <a:cxnLst/>
            <a:rect l="l" t="t" r="r" b="b"/>
            <a:pathLst>
              <a:path w="137750" h="157429">
                <a:moveTo>
                  <a:pt x="39357" y="-9839"/>
                </a:moveTo>
                <a:cubicBezTo>
                  <a:pt x="44800" y="-9839"/>
                  <a:pt x="49197" y="-5442"/>
                  <a:pt x="49197" y="0"/>
                </a:cubicBezTo>
                <a:lnTo>
                  <a:pt x="49197" y="29518"/>
                </a:lnTo>
                <a:lnTo>
                  <a:pt x="88554" y="29518"/>
                </a:lnTo>
                <a:lnTo>
                  <a:pt x="88554" y="0"/>
                </a:lnTo>
                <a:cubicBezTo>
                  <a:pt x="88554" y="-5442"/>
                  <a:pt x="92951" y="-9839"/>
                  <a:pt x="98393" y="-9839"/>
                </a:cubicBezTo>
                <a:cubicBezTo>
                  <a:pt x="103835" y="-9839"/>
                  <a:pt x="108232" y="-5442"/>
                  <a:pt x="108232" y="0"/>
                </a:cubicBezTo>
                <a:lnTo>
                  <a:pt x="108232" y="29518"/>
                </a:lnTo>
                <a:lnTo>
                  <a:pt x="127911" y="29518"/>
                </a:lnTo>
                <a:cubicBezTo>
                  <a:pt x="133353" y="29518"/>
                  <a:pt x="137750" y="33915"/>
                  <a:pt x="137750" y="39357"/>
                </a:cubicBezTo>
                <a:cubicBezTo>
                  <a:pt x="137750" y="44800"/>
                  <a:pt x="133353" y="49197"/>
                  <a:pt x="127911" y="49197"/>
                </a:cubicBezTo>
                <a:lnTo>
                  <a:pt x="127911" y="68875"/>
                </a:lnTo>
                <a:cubicBezTo>
                  <a:pt x="127911" y="98116"/>
                  <a:pt x="106634" y="122407"/>
                  <a:pt x="78714" y="127081"/>
                </a:cubicBezTo>
                <a:lnTo>
                  <a:pt x="78714" y="147590"/>
                </a:lnTo>
                <a:cubicBezTo>
                  <a:pt x="78714" y="153032"/>
                  <a:pt x="74318" y="157429"/>
                  <a:pt x="68875" y="157429"/>
                </a:cubicBezTo>
                <a:cubicBezTo>
                  <a:pt x="63433" y="157429"/>
                  <a:pt x="59036" y="153032"/>
                  <a:pt x="59036" y="147590"/>
                </a:cubicBezTo>
                <a:lnTo>
                  <a:pt x="59036" y="127081"/>
                </a:lnTo>
                <a:cubicBezTo>
                  <a:pt x="31117" y="122407"/>
                  <a:pt x="9839" y="98116"/>
                  <a:pt x="9839" y="68875"/>
                </a:cubicBezTo>
                <a:lnTo>
                  <a:pt x="9839" y="49197"/>
                </a:lnTo>
                <a:cubicBezTo>
                  <a:pt x="4397" y="49197"/>
                  <a:pt x="0" y="44800"/>
                  <a:pt x="0" y="39357"/>
                </a:cubicBezTo>
                <a:cubicBezTo>
                  <a:pt x="0" y="33915"/>
                  <a:pt x="4397" y="29518"/>
                  <a:pt x="9839" y="29518"/>
                </a:cubicBezTo>
                <a:lnTo>
                  <a:pt x="29518" y="29518"/>
                </a:lnTo>
                <a:lnTo>
                  <a:pt x="29518" y="0"/>
                </a:lnTo>
                <a:cubicBezTo>
                  <a:pt x="29518" y="-5442"/>
                  <a:pt x="33915" y="-9839"/>
                  <a:pt x="39357" y="-9839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6" name="Text 24"/>
          <p:cNvSpPr/>
          <p:nvPr/>
        </p:nvSpPr>
        <p:spPr>
          <a:xfrm>
            <a:off x="6794701" y="2746261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DNS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4701" y="3061119"/>
            <a:ext cx="4976505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DHCP with DNS for consistent name resolution. Enable dynamic DNS updates so hostnames always resolve to current IP addresses.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7334" y="3795788"/>
            <a:ext cx="5658697" cy="1276924"/>
          </a:xfrm>
          <a:custGeom>
            <a:avLst/>
            <a:gdLst/>
            <a:ahLst/>
            <a:cxnLst/>
            <a:rect l="l" t="t" r="r" b="b"/>
            <a:pathLst>
              <a:path w="5658697" h="1276924">
                <a:moveTo>
                  <a:pt x="34984" y="0"/>
                </a:moveTo>
                <a:lnTo>
                  <a:pt x="5553747" y="0"/>
                </a:lnTo>
                <a:cubicBezTo>
                  <a:pt x="5611709" y="0"/>
                  <a:pt x="5658697" y="46988"/>
                  <a:pt x="5658697" y="104950"/>
                </a:cubicBezTo>
                <a:lnTo>
                  <a:pt x="5658697" y="1171974"/>
                </a:lnTo>
                <a:cubicBezTo>
                  <a:pt x="5658697" y="1229936"/>
                  <a:pt x="5611709" y="1276924"/>
                  <a:pt x="5553747" y="1276924"/>
                </a:cubicBez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7334" y="3795788"/>
            <a:ext cx="34984" cy="1276924"/>
          </a:xfrm>
          <a:custGeom>
            <a:avLst/>
            <a:gdLst/>
            <a:ahLst/>
            <a:cxnLst/>
            <a:rect l="l" t="t" r="r" b="b"/>
            <a:pathLst>
              <a:path w="34984" h="1276924">
                <a:moveTo>
                  <a:pt x="34984" y="0"/>
                </a:moveTo>
                <a:lnTo>
                  <a:pt x="34984" y="0"/>
                </a:lnTo>
                <a:lnTo>
                  <a:pt x="34984" y="1276924"/>
                </a:ln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524763" y="3935725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2835" y="4031931"/>
            <a:ext cx="118072" cy="157429"/>
          </a:xfrm>
          <a:custGeom>
            <a:avLst/>
            <a:gdLst/>
            <a:ahLst/>
            <a:cxnLst/>
            <a:rect l="l" t="t" r="r" b="b"/>
            <a:pathLst>
              <a:path w="118072" h="157429">
                <a:moveTo>
                  <a:pt x="0" y="19679"/>
                </a:moveTo>
                <a:cubicBezTo>
                  <a:pt x="0" y="8825"/>
                  <a:pt x="8825" y="0"/>
                  <a:pt x="19679" y="0"/>
                </a:cubicBezTo>
                <a:lnTo>
                  <a:pt x="65647" y="0"/>
                </a:lnTo>
                <a:cubicBezTo>
                  <a:pt x="70874" y="0"/>
                  <a:pt x="75886" y="2060"/>
                  <a:pt x="79575" y="5750"/>
                </a:cubicBezTo>
                <a:lnTo>
                  <a:pt x="112322" y="38527"/>
                </a:lnTo>
                <a:cubicBezTo>
                  <a:pt x="116012" y="42217"/>
                  <a:pt x="118072" y="47229"/>
                  <a:pt x="118072" y="52456"/>
                </a:cubicBezTo>
                <a:lnTo>
                  <a:pt x="118072" y="137750"/>
                </a:lnTo>
                <a:cubicBezTo>
                  <a:pt x="118072" y="148604"/>
                  <a:pt x="109247" y="157429"/>
                  <a:pt x="98393" y="157429"/>
                </a:cubicBezTo>
                <a:lnTo>
                  <a:pt x="19679" y="157429"/>
                </a:lnTo>
                <a:cubicBezTo>
                  <a:pt x="8825" y="157429"/>
                  <a:pt x="0" y="148604"/>
                  <a:pt x="0" y="137750"/>
                </a:cubicBezTo>
                <a:lnTo>
                  <a:pt x="0" y="19679"/>
                </a:lnTo>
                <a:close/>
                <a:moveTo>
                  <a:pt x="63956" y="17987"/>
                </a:moveTo>
                <a:lnTo>
                  <a:pt x="63956" y="46737"/>
                </a:lnTo>
                <a:cubicBezTo>
                  <a:pt x="63956" y="50826"/>
                  <a:pt x="67246" y="54116"/>
                  <a:pt x="71335" y="54116"/>
                </a:cubicBezTo>
                <a:lnTo>
                  <a:pt x="100084" y="54116"/>
                </a:lnTo>
                <a:lnTo>
                  <a:pt x="63956" y="17987"/>
                </a:lnTo>
                <a:close/>
                <a:moveTo>
                  <a:pt x="36897" y="78714"/>
                </a:moveTo>
                <a:cubicBezTo>
                  <a:pt x="32808" y="78714"/>
                  <a:pt x="29518" y="82005"/>
                  <a:pt x="29518" y="86094"/>
                </a:cubicBezTo>
                <a:cubicBezTo>
                  <a:pt x="29518" y="90183"/>
                  <a:pt x="32808" y="93473"/>
                  <a:pt x="36897" y="93473"/>
                </a:cubicBezTo>
                <a:lnTo>
                  <a:pt x="81174" y="93473"/>
                </a:lnTo>
                <a:cubicBezTo>
                  <a:pt x="85264" y="93473"/>
                  <a:pt x="88554" y="90183"/>
                  <a:pt x="88554" y="86094"/>
                </a:cubicBezTo>
                <a:cubicBezTo>
                  <a:pt x="88554" y="82005"/>
                  <a:pt x="85264" y="78714"/>
                  <a:pt x="81174" y="78714"/>
                </a:cubicBezTo>
                <a:lnTo>
                  <a:pt x="36897" y="78714"/>
                </a:lnTo>
                <a:close/>
                <a:moveTo>
                  <a:pt x="36897" y="108232"/>
                </a:moveTo>
                <a:cubicBezTo>
                  <a:pt x="32808" y="108232"/>
                  <a:pt x="29518" y="111522"/>
                  <a:pt x="29518" y="115612"/>
                </a:cubicBezTo>
                <a:cubicBezTo>
                  <a:pt x="29518" y="119701"/>
                  <a:pt x="32808" y="122991"/>
                  <a:pt x="36897" y="122991"/>
                </a:cubicBezTo>
                <a:lnTo>
                  <a:pt x="81174" y="122991"/>
                </a:lnTo>
                <a:cubicBezTo>
                  <a:pt x="85264" y="122991"/>
                  <a:pt x="88554" y="119701"/>
                  <a:pt x="88554" y="115612"/>
                </a:cubicBezTo>
                <a:cubicBezTo>
                  <a:pt x="88554" y="111522"/>
                  <a:pt x="85264" y="108232"/>
                  <a:pt x="81174" y="108232"/>
                </a:cubicBezTo>
                <a:lnTo>
                  <a:pt x="36897" y="10823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979558" y="3935725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Everything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9558" y="4250582"/>
            <a:ext cx="4976505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clear documentation of reservations, MAC addresses, device purposes, and locations. Use descriptive names and detailed descriptions in reservation entries.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2477" y="3795788"/>
            <a:ext cx="5658697" cy="1276924"/>
          </a:xfrm>
          <a:custGeom>
            <a:avLst/>
            <a:gdLst/>
            <a:ahLst/>
            <a:cxnLst/>
            <a:rect l="l" t="t" r="r" b="b"/>
            <a:pathLst>
              <a:path w="5658697" h="1276924">
                <a:moveTo>
                  <a:pt x="34984" y="0"/>
                </a:moveTo>
                <a:lnTo>
                  <a:pt x="5553747" y="0"/>
                </a:lnTo>
                <a:cubicBezTo>
                  <a:pt x="5611709" y="0"/>
                  <a:pt x="5658697" y="46988"/>
                  <a:pt x="5658697" y="104950"/>
                </a:cubicBezTo>
                <a:lnTo>
                  <a:pt x="5658697" y="1171974"/>
                </a:lnTo>
                <a:cubicBezTo>
                  <a:pt x="5658697" y="1229936"/>
                  <a:pt x="5611709" y="1276924"/>
                  <a:pt x="5553747" y="1276924"/>
                </a:cubicBez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7474F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82477" y="3795788"/>
            <a:ext cx="34984" cy="1276924"/>
          </a:xfrm>
          <a:custGeom>
            <a:avLst/>
            <a:gdLst/>
            <a:ahLst/>
            <a:cxnLst/>
            <a:rect l="l" t="t" r="r" b="b"/>
            <a:pathLst>
              <a:path w="34984" h="1276924">
                <a:moveTo>
                  <a:pt x="34984" y="0"/>
                </a:moveTo>
                <a:lnTo>
                  <a:pt x="34984" y="0"/>
                </a:lnTo>
                <a:lnTo>
                  <a:pt x="34984" y="1276924"/>
                </a:lnTo>
                <a:lnTo>
                  <a:pt x="34984" y="1276924"/>
                </a:lnTo>
                <a:cubicBezTo>
                  <a:pt x="15663" y="1276924"/>
                  <a:pt x="0" y="1261261"/>
                  <a:pt x="0" y="124194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9906" y="3935725"/>
            <a:ext cx="349842" cy="349842"/>
          </a:xfrm>
          <a:custGeom>
            <a:avLst/>
            <a:gdLst/>
            <a:ahLst/>
            <a:cxnLst/>
            <a:rect l="l" t="t" r="r" b="b"/>
            <a:pathLst>
              <a:path w="349842" h="349842">
                <a:moveTo>
                  <a:pt x="174921" y="0"/>
                </a:moveTo>
                <a:lnTo>
                  <a:pt x="174921" y="0"/>
                </a:lnTo>
                <a:cubicBezTo>
                  <a:pt x="271463" y="0"/>
                  <a:pt x="349842" y="78380"/>
                  <a:pt x="349842" y="174921"/>
                </a:cubicBezTo>
                <a:lnTo>
                  <a:pt x="349842" y="174921"/>
                </a:lnTo>
                <a:cubicBezTo>
                  <a:pt x="349842" y="271463"/>
                  <a:pt x="271463" y="349842"/>
                  <a:pt x="174921" y="349842"/>
                </a:cubicBezTo>
                <a:lnTo>
                  <a:pt x="174921" y="349842"/>
                </a:lnTo>
                <a:cubicBezTo>
                  <a:pt x="78380" y="349842"/>
                  <a:pt x="0" y="271463"/>
                  <a:pt x="0" y="174921"/>
                </a:cubicBezTo>
                <a:lnTo>
                  <a:pt x="0" y="174921"/>
                </a:lnTo>
                <a:cubicBezTo>
                  <a:pt x="0" y="78380"/>
                  <a:pt x="78380" y="0"/>
                  <a:pt x="174921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8460" y="4031931"/>
            <a:ext cx="177108" cy="157429"/>
          </a:xfrm>
          <a:custGeom>
            <a:avLst/>
            <a:gdLst/>
            <a:ahLst/>
            <a:cxnLst/>
            <a:rect l="l" t="t" r="r" b="b"/>
            <a:pathLst>
              <a:path w="177108" h="157429">
                <a:moveTo>
                  <a:pt x="68875" y="76255"/>
                </a:moveTo>
                <a:cubicBezTo>
                  <a:pt x="89239" y="76255"/>
                  <a:pt x="105773" y="59721"/>
                  <a:pt x="105773" y="39357"/>
                </a:cubicBezTo>
                <a:cubicBezTo>
                  <a:pt x="105773" y="18993"/>
                  <a:pt x="89239" y="2460"/>
                  <a:pt x="68875" y="2460"/>
                </a:cubicBezTo>
                <a:cubicBezTo>
                  <a:pt x="48511" y="2460"/>
                  <a:pt x="31978" y="18993"/>
                  <a:pt x="31978" y="39357"/>
                </a:cubicBezTo>
                <a:cubicBezTo>
                  <a:pt x="31978" y="59721"/>
                  <a:pt x="48511" y="76255"/>
                  <a:pt x="68875" y="76255"/>
                </a:cubicBezTo>
                <a:close/>
                <a:moveTo>
                  <a:pt x="59743" y="93473"/>
                </a:moveTo>
                <a:cubicBezTo>
                  <a:pt x="29456" y="93473"/>
                  <a:pt x="4920" y="118010"/>
                  <a:pt x="4920" y="148297"/>
                </a:cubicBezTo>
                <a:cubicBezTo>
                  <a:pt x="4920" y="153340"/>
                  <a:pt x="9009" y="157429"/>
                  <a:pt x="14052" y="157429"/>
                </a:cubicBezTo>
                <a:lnTo>
                  <a:pt x="91383" y="157429"/>
                </a:lnTo>
                <a:cubicBezTo>
                  <a:pt x="80252" y="144330"/>
                  <a:pt x="73795" y="127450"/>
                  <a:pt x="73795" y="109585"/>
                </a:cubicBezTo>
                <a:lnTo>
                  <a:pt x="73795" y="100023"/>
                </a:lnTo>
                <a:cubicBezTo>
                  <a:pt x="73795" y="97778"/>
                  <a:pt x="74102" y="95564"/>
                  <a:pt x="74687" y="93473"/>
                </a:cubicBezTo>
                <a:lnTo>
                  <a:pt x="59743" y="93473"/>
                </a:lnTo>
                <a:close/>
                <a:moveTo>
                  <a:pt x="136920" y="150203"/>
                </a:moveTo>
                <a:lnTo>
                  <a:pt x="132831" y="152140"/>
                </a:lnTo>
                <a:lnTo>
                  <a:pt x="132831" y="94304"/>
                </a:lnTo>
                <a:lnTo>
                  <a:pt x="162349" y="104143"/>
                </a:lnTo>
                <a:lnTo>
                  <a:pt x="162349" y="110170"/>
                </a:lnTo>
                <a:cubicBezTo>
                  <a:pt x="162349" y="127327"/>
                  <a:pt x="152448" y="142916"/>
                  <a:pt x="136920" y="150234"/>
                </a:cubicBezTo>
                <a:close/>
                <a:moveTo>
                  <a:pt x="129725" y="79791"/>
                </a:moveTo>
                <a:lnTo>
                  <a:pt x="95288" y="91260"/>
                </a:lnTo>
                <a:cubicBezTo>
                  <a:pt x="91260" y="92613"/>
                  <a:pt x="88554" y="96364"/>
                  <a:pt x="88554" y="100607"/>
                </a:cubicBezTo>
                <a:lnTo>
                  <a:pt x="88554" y="110170"/>
                </a:lnTo>
                <a:cubicBezTo>
                  <a:pt x="88554" y="133046"/>
                  <a:pt x="101775" y="153862"/>
                  <a:pt x="122438" y="163579"/>
                </a:cubicBezTo>
                <a:lnTo>
                  <a:pt x="128126" y="166254"/>
                </a:lnTo>
                <a:cubicBezTo>
                  <a:pt x="129602" y="166930"/>
                  <a:pt x="131201" y="167299"/>
                  <a:pt x="132800" y="167299"/>
                </a:cubicBezTo>
                <a:cubicBezTo>
                  <a:pt x="134399" y="167299"/>
                  <a:pt x="136028" y="166930"/>
                  <a:pt x="137474" y="166254"/>
                </a:cubicBezTo>
                <a:lnTo>
                  <a:pt x="143162" y="163579"/>
                </a:lnTo>
                <a:cubicBezTo>
                  <a:pt x="163886" y="153831"/>
                  <a:pt x="177108" y="133015"/>
                  <a:pt x="177108" y="110139"/>
                </a:cubicBezTo>
                <a:lnTo>
                  <a:pt x="177108" y="100576"/>
                </a:lnTo>
                <a:cubicBezTo>
                  <a:pt x="177108" y="96333"/>
                  <a:pt x="174402" y="92582"/>
                  <a:pt x="170374" y="91229"/>
                </a:cubicBezTo>
                <a:lnTo>
                  <a:pt x="135936" y="79760"/>
                </a:lnTo>
                <a:cubicBezTo>
                  <a:pt x="133907" y="79083"/>
                  <a:pt x="131724" y="79083"/>
                  <a:pt x="129725" y="79760"/>
                </a:cubicBez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38" name="Text 36"/>
          <p:cNvSpPr/>
          <p:nvPr/>
        </p:nvSpPr>
        <p:spPr>
          <a:xfrm>
            <a:off x="6794701" y="3935725"/>
            <a:ext cx="4985251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Security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4701" y="4250582"/>
            <a:ext cx="4976505" cy="68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role-based access controls to DHCP management. Monitor for unauthorized changes and implement DHCP snooping on switches to prevent rogue servers.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53341" y="5216147"/>
            <a:ext cx="11481820" cy="1056523"/>
          </a:xfrm>
          <a:custGeom>
            <a:avLst/>
            <a:gdLst/>
            <a:ahLst/>
            <a:cxnLst/>
            <a:rect l="l" t="t" r="r" b="b"/>
            <a:pathLst>
              <a:path w="11481820" h="1056523">
                <a:moveTo>
                  <a:pt x="104955" y="0"/>
                </a:moveTo>
                <a:lnTo>
                  <a:pt x="11376865" y="0"/>
                </a:lnTo>
                <a:cubicBezTo>
                  <a:pt x="11434830" y="0"/>
                  <a:pt x="11481820" y="46990"/>
                  <a:pt x="11481820" y="104955"/>
                </a:cubicBezTo>
                <a:lnTo>
                  <a:pt x="11481820" y="951568"/>
                </a:lnTo>
                <a:cubicBezTo>
                  <a:pt x="11481820" y="1009533"/>
                  <a:pt x="11434830" y="1056523"/>
                  <a:pt x="11376865" y="1056523"/>
                </a:cubicBezTo>
                <a:lnTo>
                  <a:pt x="104955" y="1056523"/>
                </a:lnTo>
                <a:cubicBezTo>
                  <a:pt x="47029" y="1056523"/>
                  <a:pt x="0" y="1009495"/>
                  <a:pt x="0" y="951568"/>
                </a:cubicBezTo>
                <a:lnTo>
                  <a:pt x="0" y="104955"/>
                </a:lnTo>
                <a:cubicBezTo>
                  <a:pt x="0" y="47029"/>
                  <a:pt x="47029" y="0"/>
                  <a:pt x="104955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6776" y="5359585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Shape 40"/>
          <p:cNvSpPr/>
          <p:nvPr/>
        </p:nvSpPr>
        <p:spPr>
          <a:xfrm>
            <a:off x="641086" y="5482030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106388" y="10933"/>
                </a:moveTo>
                <a:lnTo>
                  <a:pt x="109326" y="10933"/>
                </a:lnTo>
                <a:cubicBezTo>
                  <a:pt x="121386" y="10933"/>
                  <a:pt x="131191" y="20738"/>
                  <a:pt x="131191" y="32798"/>
                </a:cubicBezTo>
                <a:lnTo>
                  <a:pt x="131191" y="153056"/>
                </a:lnTo>
                <a:cubicBezTo>
                  <a:pt x="131191" y="165116"/>
                  <a:pt x="121386" y="174921"/>
                  <a:pt x="109326" y="174921"/>
                </a:cubicBezTo>
                <a:lnTo>
                  <a:pt x="21865" y="174921"/>
                </a:lnTo>
                <a:cubicBezTo>
                  <a:pt x="9805" y="174921"/>
                  <a:pt x="0" y="165116"/>
                  <a:pt x="0" y="153056"/>
                </a:cubicBezTo>
                <a:lnTo>
                  <a:pt x="0" y="32798"/>
                </a:lnTo>
                <a:cubicBezTo>
                  <a:pt x="0" y="20738"/>
                  <a:pt x="9805" y="10933"/>
                  <a:pt x="21865" y="10933"/>
                </a:cubicBezTo>
                <a:lnTo>
                  <a:pt x="24803" y="10933"/>
                </a:lnTo>
                <a:cubicBezTo>
                  <a:pt x="28561" y="4407"/>
                  <a:pt x="35633" y="0"/>
                  <a:pt x="43730" y="0"/>
                </a:cubicBezTo>
                <a:lnTo>
                  <a:pt x="87461" y="0"/>
                </a:lnTo>
                <a:cubicBezTo>
                  <a:pt x="95557" y="0"/>
                  <a:pt x="102629" y="4407"/>
                  <a:pt x="106388" y="10933"/>
                </a:cubicBezTo>
                <a:close/>
                <a:moveTo>
                  <a:pt x="84727" y="38264"/>
                </a:moveTo>
                <a:cubicBezTo>
                  <a:pt x="89271" y="38264"/>
                  <a:pt x="92927" y="34608"/>
                  <a:pt x="92927" y="30065"/>
                </a:cubicBezTo>
                <a:cubicBezTo>
                  <a:pt x="92927" y="25521"/>
                  <a:pt x="89271" y="21865"/>
                  <a:pt x="84727" y="21865"/>
                </a:cubicBezTo>
                <a:lnTo>
                  <a:pt x="46463" y="21865"/>
                </a:lnTo>
                <a:cubicBezTo>
                  <a:pt x="41920" y="21865"/>
                  <a:pt x="38264" y="25521"/>
                  <a:pt x="38264" y="30065"/>
                </a:cubicBezTo>
                <a:cubicBezTo>
                  <a:pt x="38264" y="34608"/>
                  <a:pt x="41920" y="38264"/>
                  <a:pt x="46463" y="38264"/>
                </a:cubicBezTo>
                <a:lnTo>
                  <a:pt x="84727" y="38264"/>
                </a:lnTo>
                <a:close/>
                <a:moveTo>
                  <a:pt x="94430" y="89066"/>
                </a:moveTo>
                <a:cubicBezTo>
                  <a:pt x="96822" y="85240"/>
                  <a:pt x="95660" y="80184"/>
                  <a:pt x="91834" y="77758"/>
                </a:cubicBezTo>
                <a:cubicBezTo>
                  <a:pt x="88007" y="75332"/>
                  <a:pt x="82951" y="76528"/>
                  <a:pt x="80525" y="80354"/>
                </a:cubicBezTo>
                <a:lnTo>
                  <a:pt x="59548" y="113938"/>
                </a:lnTo>
                <a:lnTo>
                  <a:pt x="50324" y="101639"/>
                </a:lnTo>
                <a:cubicBezTo>
                  <a:pt x="47591" y="98017"/>
                  <a:pt x="42466" y="97266"/>
                  <a:pt x="38845" y="99999"/>
                </a:cubicBezTo>
                <a:cubicBezTo>
                  <a:pt x="35223" y="102732"/>
                  <a:pt x="34472" y="107857"/>
                  <a:pt x="37205" y="111478"/>
                </a:cubicBezTo>
                <a:lnTo>
                  <a:pt x="53604" y="133343"/>
                </a:lnTo>
                <a:cubicBezTo>
                  <a:pt x="55209" y="135496"/>
                  <a:pt x="57806" y="136725"/>
                  <a:pt x="60505" y="136623"/>
                </a:cubicBezTo>
                <a:cubicBezTo>
                  <a:pt x="63204" y="136520"/>
                  <a:pt x="65664" y="135086"/>
                  <a:pt x="67099" y="132762"/>
                </a:cubicBezTo>
                <a:lnTo>
                  <a:pt x="94430" y="8903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1056523" y="5359585"/>
            <a:ext cx="1072266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 Auditing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6523" y="5674443"/>
            <a:ext cx="10705171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 periodic reviews of your DHCP reservations. Remove obsolete entries for decommissioned devices, verify MAC address accuracy, and ensure reserved IPs are still needed. Use 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4DB6AC"/>
                </a:solidFill>
                <a:highlight>
                  <a:srgbClr val="37474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Get-DhcpServerv4Reservation 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export and review configurations regularly.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eb16fcb5662892727f1a8742094beb5778b4ab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DB6A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731" y="53006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508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281" y="7396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" name="Text 3"/>
          <p:cNvSpPr/>
          <p:nvPr/>
        </p:nvSpPr>
        <p:spPr>
          <a:xfrm>
            <a:off x="4226243" y="1654020"/>
            <a:ext cx="37433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DHCP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1175" y="3254220"/>
            <a:ext cx="86296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DHCP reservations combine the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simplicity of automatic IP assignment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the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7043"/>
                </a:solidFill>
                <a:highlight>
                  <a:srgbClr val="FF704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predictability of static addressing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CEFF1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By centralizing IP management, you reduce errors, simplify scaling, and maintain reliable network connectivity for critical devices.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2610" y="4491517"/>
            <a:ext cx="2684145" cy="1074420"/>
          </a:xfrm>
          <a:custGeom>
            <a:avLst/>
            <a:gdLst/>
            <a:ahLst/>
            <a:cxnLst/>
            <a:rect l="l" t="t" r="r" b="b"/>
            <a:pathLst>
              <a:path w="2684145" h="1074420">
                <a:moveTo>
                  <a:pt x="114297" y="0"/>
                </a:moveTo>
                <a:lnTo>
                  <a:pt x="2569848" y="0"/>
                </a:lnTo>
                <a:cubicBezTo>
                  <a:pt x="2632973" y="0"/>
                  <a:pt x="2684145" y="51172"/>
                  <a:pt x="2684145" y="114297"/>
                </a:cubicBezTo>
                <a:lnTo>
                  <a:pt x="2684145" y="960123"/>
                </a:lnTo>
                <a:cubicBezTo>
                  <a:pt x="2684145" y="1023248"/>
                  <a:pt x="2632973" y="1074420"/>
                  <a:pt x="256984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37474F">
              <a:alpha val="4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41195" y="4685826"/>
            <a:ext cx="2466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88820" y="514302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point of management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3570" y="4491517"/>
            <a:ext cx="2684145" cy="1074420"/>
          </a:xfrm>
          <a:custGeom>
            <a:avLst/>
            <a:gdLst/>
            <a:ahLst/>
            <a:cxnLst/>
            <a:rect l="l" t="t" r="r" b="b"/>
            <a:pathLst>
              <a:path w="2684145" h="1074420">
                <a:moveTo>
                  <a:pt x="114297" y="0"/>
                </a:moveTo>
                <a:lnTo>
                  <a:pt x="2569848" y="0"/>
                </a:lnTo>
                <a:cubicBezTo>
                  <a:pt x="2632973" y="0"/>
                  <a:pt x="2684145" y="51172"/>
                  <a:pt x="2684145" y="114297"/>
                </a:cubicBezTo>
                <a:lnTo>
                  <a:pt x="2684145" y="960123"/>
                </a:lnTo>
                <a:cubicBezTo>
                  <a:pt x="2684145" y="1023248"/>
                  <a:pt x="2632973" y="1074420"/>
                  <a:pt x="256984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37474F">
              <a:alpha val="40000"/>
            </a:srgbClr>
          </a:solidFill>
          <a:ln w="10160">
            <a:solidFill>
              <a:srgbClr val="FF7043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2156" y="4685826"/>
            <a:ext cx="2466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70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09781" y="514302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IP assignments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74531" y="4491517"/>
            <a:ext cx="2684145" cy="1074420"/>
          </a:xfrm>
          <a:custGeom>
            <a:avLst/>
            <a:gdLst/>
            <a:ahLst/>
            <a:cxnLst/>
            <a:rect l="l" t="t" r="r" b="b"/>
            <a:pathLst>
              <a:path w="2684145" h="1074420">
                <a:moveTo>
                  <a:pt x="114297" y="0"/>
                </a:moveTo>
                <a:lnTo>
                  <a:pt x="2569848" y="0"/>
                </a:lnTo>
                <a:cubicBezTo>
                  <a:pt x="2632973" y="0"/>
                  <a:pt x="2684145" y="51172"/>
                  <a:pt x="2684145" y="114297"/>
                </a:cubicBezTo>
                <a:lnTo>
                  <a:pt x="2684145" y="960123"/>
                </a:lnTo>
                <a:cubicBezTo>
                  <a:pt x="2684145" y="1023248"/>
                  <a:pt x="2632973" y="1074420"/>
                  <a:pt x="256984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37474F">
              <a:alpha val="40000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83116" y="4685826"/>
            <a:ext cx="2466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30741" y="514302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CEF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Grows with your network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20070" y="5878354"/>
            <a:ext cx="2703195" cy="464820"/>
          </a:xfrm>
          <a:custGeom>
            <a:avLst/>
            <a:gdLst/>
            <a:ahLst/>
            <a:cxnLst/>
            <a:rect l="l" t="t" r="r" b="b"/>
            <a:pathLst>
              <a:path w="2703195" h="464820">
                <a:moveTo>
                  <a:pt x="232410" y="0"/>
                </a:moveTo>
                <a:lnTo>
                  <a:pt x="2470785" y="0"/>
                </a:lnTo>
                <a:cubicBezTo>
                  <a:pt x="2599141" y="0"/>
                  <a:pt x="2703195" y="104054"/>
                  <a:pt x="2703195" y="232410"/>
                </a:cubicBezTo>
                <a:lnTo>
                  <a:pt x="2703195" y="232410"/>
                </a:lnTo>
                <a:cubicBezTo>
                  <a:pt x="2703195" y="360766"/>
                  <a:pt x="2599141" y="464820"/>
                  <a:pt x="2470785" y="464820"/>
                </a:cubicBezTo>
                <a:lnTo>
                  <a:pt x="232410" y="464820"/>
                </a:lnTo>
                <a:cubicBezTo>
                  <a:pt x="104054" y="464820"/>
                  <a:pt x="0" y="360766"/>
                  <a:pt x="0" y="232410"/>
                </a:cubicBezTo>
                <a:lnTo>
                  <a:pt x="0" y="232410"/>
                </a:lnTo>
                <a:cubicBezTo>
                  <a:pt x="0" y="104054"/>
                  <a:pt x="104053" y="0"/>
                  <a:pt x="23241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88199" y="601551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6"/>
          <p:cNvSpPr/>
          <p:nvPr/>
        </p:nvSpPr>
        <p:spPr>
          <a:xfrm>
            <a:off x="3966805" y="5996462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Server 2019/2022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61033" y="5878354"/>
            <a:ext cx="2407920" cy="464820"/>
          </a:xfrm>
          <a:custGeom>
            <a:avLst/>
            <a:gdLst/>
            <a:ahLst/>
            <a:cxnLst/>
            <a:rect l="l" t="t" r="r" b="b"/>
            <a:pathLst>
              <a:path w="2407920" h="464820">
                <a:moveTo>
                  <a:pt x="232410" y="0"/>
                </a:moveTo>
                <a:lnTo>
                  <a:pt x="2175510" y="0"/>
                </a:lnTo>
                <a:cubicBezTo>
                  <a:pt x="2303866" y="0"/>
                  <a:pt x="2407920" y="104054"/>
                  <a:pt x="2407920" y="232410"/>
                </a:cubicBezTo>
                <a:lnTo>
                  <a:pt x="2407920" y="232410"/>
                </a:lnTo>
                <a:cubicBezTo>
                  <a:pt x="2407920" y="360766"/>
                  <a:pt x="2303866" y="464820"/>
                  <a:pt x="2175510" y="464820"/>
                </a:cubicBezTo>
                <a:lnTo>
                  <a:pt x="232410" y="464820"/>
                </a:lnTo>
                <a:cubicBezTo>
                  <a:pt x="104054" y="464820"/>
                  <a:pt x="0" y="360766"/>
                  <a:pt x="0" y="232410"/>
                </a:cubicBezTo>
                <a:lnTo>
                  <a:pt x="0" y="232410"/>
                </a:lnTo>
                <a:cubicBezTo>
                  <a:pt x="0" y="104054"/>
                  <a:pt x="104053" y="0"/>
                  <a:pt x="232410" y="0"/>
                </a:cubicBezTo>
                <a:close/>
              </a:path>
            </a:pathLst>
          </a:custGeom>
          <a:solidFill>
            <a:srgbClr val="FF7043">
              <a:alpha val="20000"/>
            </a:srgbClr>
          </a:solidFill>
          <a:ln w="10160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05350" y="601551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7043"/>
          </a:solidFill>
          <a:ln/>
        </p:spPr>
      </p:sp>
      <p:sp>
        <p:nvSpPr>
          <p:cNvPr id="22" name="Text 19"/>
          <p:cNvSpPr/>
          <p:nvPr/>
        </p:nvSpPr>
        <p:spPr>
          <a:xfrm>
            <a:off x="6907768" y="5996462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CEF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Administration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DHCP Reservation - Windows Server Configuration Guide</dc:title>
  <dc:subject>DHCP Reservation - Windows Server Configuration Guide</dc:subject>
  <dc:creator>Kimi</dc:creator>
  <cp:lastModifiedBy>Kimi</cp:lastModifiedBy>
  <cp:revision>1</cp:revision>
  <dcterms:created xsi:type="dcterms:W3CDTF">2026-03-31T09:57:15Z</dcterms:created>
  <dcterms:modified xsi:type="dcterms:W3CDTF">2026-03-31T09:57:15Z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{"Label":"DHCP Reservation - Windows Server Configuration Guide","ContentProducer":"001191110108MACG2KBH8F10000","ProduceID":"19d43504-0022-8f1e-8000-0000e51fa2b0","ReservedCode1":"","ContentPropagator":"001191110108MACG2KBH8F20000","PropagateID":"19d43504-0022-8f1e-8000-0000e51fa2b0","ReservedCode2":""}</vt:lpwstr>
  </property>
</Properties>
</file>